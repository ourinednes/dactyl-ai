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474720"/>
          </a:xfrm>
          <a:prstGeom prst="rect">
            <a:avLst/>
          </a:prstGeom>
          <a:solidFill>
            <a:srgbClr val="00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OPTIMASI KONTROL CURSOR DAN INPUT KEYBOARD VIRTUAL BERBASIS HAND-LANDMARK DETECTION</a:t>
            </a:r>
          </a:p>
          <a:p>
            <a:pPr>
              <a:spcBef>
                <a:spcPts val="1500"/>
              </a:spcBef>
              <a:defRPr sz="2200">
                <a:solidFill>
                  <a:srgbClr val="00B4FF"/>
                </a:solidFill>
              </a:defRPr>
            </a:pPr>
            <a:r>
              <a:t>Menggunakan Arsitektur MediaPipe Secara Real Time (Dactyl-AI V2.5)</a:t>
            </a:r>
          </a:p>
          <a:p>
            <a:pPr>
              <a:spcBef>
                <a:spcPts val="3000"/>
              </a:spcBef>
              <a:defRPr sz="1400" i="1">
                <a:solidFill>
                  <a:srgbClr val="C8DCF0"/>
                </a:solidFill>
              </a:defRPr>
            </a:pPr>
            <a:r>
              <a:t>Magic Cursor Bimanual System  |  Support Vector Machine &amp; Spatial Geometry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0C4DE"/>
                </a:solidFill>
              </a:defRPr>
            </a:pPr>
            <a:r>
              <a:t>DACTYL-AI V2.5 -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Ringkasan Eksekutif (Executive Summary)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Dactyl-AI V2.5: Real-Time Hand-Landmark Control System  |  Slide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b="1" sz="1800">
                <a:solidFill>
                  <a:srgbClr val="003366"/>
                </a:solidFill>
              </a:rPr>
              <a:t>• Inovasi Touchless HCI: </a:t>
            </a:r>
            <a:r>
              <a:rPr sz="1600">
                <a:solidFill>
                  <a:srgbClr val="3C3C3C"/>
                </a:solidFill>
              </a:rPr>
              <a:t>Dactyl-AI adalah sistem Human-Computer Interaction tanpa sentuhan untuk mengontrol kursor, mengetik keyboard virtual, multimedia, &amp; navigasi OS hanya dengan gestur tangan di depan webcam.</a:t>
            </a:r>
          </a:p>
          <a:p>
            <a:pPr>
              <a:spcAft>
                <a:spcPts val="1500"/>
              </a:spcAft>
            </a:pPr>
            <a:r>
              <a:rPr b="1" sz="1800">
                <a:solidFill>
                  <a:srgbClr val="003366"/>
                </a:solidFill>
              </a:rPr>
              <a:t>• Mengatasi Ketergantungan Hardware: </a:t>
            </a:r>
            <a:r>
              <a:rPr sz="1600">
                <a:solidFill>
                  <a:srgbClr val="3C3C3C"/>
                </a:solidFill>
              </a:rPr>
              <a:t>Menggantikan mouse dan keyboard fisik dengan antarmuka optik transparan yang ergonomis dan tangguh.</a:t>
            </a:r>
          </a:p>
          <a:p>
            <a:pPr>
              <a:spcAft>
                <a:spcPts val="1500"/>
              </a:spcAft>
            </a:pPr>
            <a:r>
              <a:rPr b="1" sz="1800">
                <a:solidFill>
                  <a:srgbClr val="003366"/>
                </a:solidFill>
              </a:rPr>
              <a:t>• Solusi Masalah Oklusi (Jari Saling Menutupi): </a:t>
            </a:r>
            <a:r>
              <a:rPr sz="1600">
                <a:solidFill>
                  <a:srgbClr val="3C3C3C"/>
                </a:solidFill>
              </a:rPr>
              <a:t>Menerapkan konsep 'Dual-Wielding / Bimanual Interface' yang membagi tugas secara eksklusif antara tangan kanan (navigasi &amp; klik) dan tangan kiri (shortcut &amp; kontrol sistem).</a:t>
            </a:r>
          </a:p>
          <a:p>
            <a:pPr>
              <a:spcAft>
                <a:spcPts val="1500"/>
              </a:spcAft>
            </a:pPr>
            <a:r>
              <a:rPr b="1" sz="1800">
                <a:solidFill>
                  <a:srgbClr val="003366"/>
                </a:solidFill>
              </a:rPr>
              <a:t>• Kombinasi AI &amp; Geometri Spasial: </a:t>
            </a:r>
            <a:r>
              <a:rPr sz="1600">
                <a:solidFill>
                  <a:srgbClr val="3C3C3C"/>
                </a:solidFill>
              </a:rPr>
              <a:t>Diperkuat oleh integrasi Computer Vision (MediaPipe), Machine Learning (SVM Kernel RBF), dan Rule-Based Geometrical Logic secara real time pada 24-30 FPS.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0C4DE"/>
                </a:solidFill>
              </a:defRPr>
            </a:pPr>
            <a:r>
              <a:t>DACTYL-AI V2.5 -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Sumber Pengetahuan &amp; Teknologi Pendukung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Dactyl-AI V2.5: Real-Time Hand-Landmark Control System  |  Slide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137160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MediaPipe Hands</a:t>
            </a:r>
          </a:p>
          <a:p>
            <a:pPr>
              <a:spcBef>
                <a:spcPts val="500"/>
              </a:spcBef>
              <a:defRPr sz="1300">
                <a:solidFill>
                  <a:srgbClr val="464646"/>
                </a:solidFill>
              </a:defRPr>
            </a:pPr>
            <a:r>
              <a:t>Pemindai koordinat spasial 3D (X, Y, Z) dari 21 titik sendi untuk 2 tangan simultan.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120640" cy="137160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Scikit-Learn (SVM &amp; Scaler)</a:t>
            </a:r>
          </a:p>
          <a:p>
            <a:pPr>
              <a:spcBef>
                <a:spcPts val="500"/>
              </a:spcBef>
              <a:defRPr sz="1300">
                <a:solidFill>
                  <a:srgbClr val="464646"/>
                </a:solidFill>
              </a:defRPr>
            </a:pPr>
            <a:r>
              <a:t>Mesin AI Brain pengklasifikasi 126 atribut vektor ke dalam 8 kelas gestur.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5120640" cy="137160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OpenCV</a:t>
            </a:r>
          </a:p>
          <a:p>
            <a:pPr>
              <a:spcBef>
                <a:spcPts val="500"/>
              </a:spcBef>
              <a:defRPr sz="1300">
                <a:solidFill>
                  <a:srgbClr val="464646"/>
                </a:solidFill>
              </a:defRPr>
            </a:pPr>
            <a:r>
              <a:t>Akuisisi video real-time 1280x720, mirroring, dan rendering UI hologram transparan.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017520"/>
            <a:ext cx="5120640" cy="137160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PyAutoGUI</a:t>
            </a:r>
          </a:p>
          <a:p>
            <a:pPr>
              <a:spcBef>
                <a:spcPts val="500"/>
              </a:spcBef>
              <a:defRPr sz="1300">
                <a:solidFill>
                  <a:srgbClr val="464646"/>
                </a:solidFill>
              </a:defRPr>
            </a:pPr>
            <a:r>
              <a:t>Eksekutor event OS: gerakan mouse, klik, hold-drag, scroll, dan keystroke keyboard.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5120640" cy="137160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Win32 API (ctypes)</a:t>
            </a:r>
          </a:p>
          <a:p>
            <a:pPr>
              <a:spcBef>
                <a:spcPts val="500"/>
              </a:spcBef>
              <a:defRPr sz="1300">
                <a:solidFill>
                  <a:srgbClr val="464646"/>
                </a:solidFill>
              </a:defRPr>
            </a:pPr>
            <a:r>
              <a:t>Mengatur window Always-on-Top (Topmost), opacity 60%, di pojok kanan bawah monitor.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572000"/>
            <a:ext cx="5120640" cy="137160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PowerShell Asynchronous</a:t>
            </a:r>
          </a:p>
          <a:p>
            <a:pPr>
              <a:spcBef>
                <a:spcPts val="500"/>
              </a:spcBef>
              <a:defRPr sz="1300">
                <a:solidFill>
                  <a:srgbClr val="464646"/>
                </a:solidFill>
              </a:defRPr>
            </a:pPr>
            <a:r>
              <a:t>Pengontrol kecerahan layar di background thread tanpa menyebabkan lag pada video feed.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0C4DE"/>
                </a:solidFill>
              </a:defRPr>
            </a:pPr>
            <a:r>
              <a:t>DACTYL-AI V2.5 -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Pengetahuan AI &amp; Machine Learning Dactyl-AI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Dactyl-AI V2.5: Real-Time Hand-Landmark Control System  |  Slide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700">
                <a:solidFill>
                  <a:srgbClr val="003366"/>
                </a:solidFill>
              </a:rPr>
              <a:t>• 126 Atribut Koordinat Spasial 3D: </a:t>
            </a:r>
            <a:r>
              <a:rPr sz="1500">
                <a:solidFill>
                  <a:srgbClr val="3C3C3C"/>
                </a:solidFill>
              </a:rPr>
              <a:t>Ekstraksi 21 titik hand-landmarks (X, Y, Z) dari Tangan Kiri (63) dan Tangan Kanan (63) menjadi vektor numerik 1D terintegrasi.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003366"/>
                </a:solidFill>
              </a:rPr>
              <a:t>• Kalkulasi Geometri Spasial: </a:t>
            </a:r>
            <a:r>
              <a:rPr sz="1500">
                <a:solidFill>
                  <a:srgbClr val="3C3C3C"/>
                </a:solidFill>
              </a:rPr>
              <a:t>Memanfaatkan Jarak Euclidean (Euclidean distance) antar jari untuk deteksi cubitan, sudut rotasi pergelangan tangan (atan2) untuk kontrol volume/brightness, dan Bounding Box area untuk screenshot.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003366"/>
                </a:solidFill>
              </a:rPr>
              <a:t>• Pelacakan Dinamis &amp; Temporal: </a:t>
            </a:r>
            <a:r>
              <a:rPr sz="1500">
                <a:solidFill>
                  <a:srgbClr val="3C3C3C"/>
                </a:solidFill>
              </a:rPr>
              <a:t>Perhitungan kecepatan geser (velocity dx/dt) untuk swipe tab, serta kalkulasi temporal (timer penahanan gestur 1.0s - 2.0s) untuk trigger keyboard &amp; lock.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003366"/>
                </a:solidFill>
              </a:rPr>
              <a:t>• Support Vector Machine (SVM RBF): </a:t>
            </a:r>
            <a:r>
              <a:rPr sz="1500">
                <a:solidFill>
                  <a:srgbClr val="3C3C3C"/>
                </a:solidFill>
              </a:rPr>
              <a:t>Klasifikasi gestur menggunakan kernel RBF yang dilatih pada data ber-StandardScaler, memberikan akurasi tinggi dengan beban komputasi sangat ringan.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003366"/>
                </a:solidFill>
              </a:rPr>
              <a:t>• Heuristic Jitter Filtering: </a:t>
            </a:r>
            <a:r>
              <a:rPr sz="1500">
                <a:solidFill>
                  <a:srgbClr val="3C3C3C"/>
                </a:solidFill>
              </a:rPr>
              <a:t>Menerapkan Exponential Moving Average (EMA) dengan alpha = 0.25 untuk menyaring tremor alami tangan sehingga kursor bergerak ultra-mulus.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0C4DE"/>
                </a:solidFill>
              </a:defRPr>
            </a:pPr>
            <a:r>
              <a:t>DACTYL-AI V2.5 -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Alur Kerja Sistem (5-Stage Real-Time Pipeline)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Dactyl-AI V2.5: Real-Time Hand-Landmark Control System  |  Slide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103120" cy="29260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1. Akuisisi Video</a:t>
            </a:r>
          </a:p>
          <a:p>
            <a:br/>
            <a:pPr algn="ctr">
              <a:defRPr sz="1400">
                <a:solidFill>
                  <a:srgbClr val="DCEBFF"/>
                </a:solidFill>
              </a:defRPr>
            </a:pPr>
            <a:r>
              <a:t>Webcam 1280x720</a:t>
            </a:r>
            <a:br/>
            <a:r>
              <a:t>Mirroring (cv2.flip)</a:t>
            </a:r>
            <a:br/>
            <a:r>
              <a:t>BGR to RGB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286000"/>
            <a:ext cx="2103120" cy="292608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2. Ekstraksi Fitur</a:t>
            </a:r>
          </a:p>
          <a:p>
            <a:br/>
            <a:pPr algn="ctr">
              <a:defRPr sz="1400">
                <a:solidFill>
                  <a:srgbClr val="DCEBFF"/>
                </a:solidFill>
              </a:defRPr>
            </a:pPr>
            <a:r>
              <a:t>MediaPipe Hands</a:t>
            </a:r>
            <a:br/>
            <a:r>
              <a:t>21 titik (X,Y,Z) x 2</a:t>
            </a:r>
            <a:br/>
            <a:r>
              <a:t>126 Vektor Dimensi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286000"/>
            <a:ext cx="2103120" cy="29260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3. AI Brain (SVM)</a:t>
            </a:r>
          </a:p>
          <a:p>
            <a:br/>
            <a:pPr algn="ctr">
              <a:defRPr sz="1400">
                <a:solidFill>
                  <a:srgbClr val="DCEBFF"/>
                </a:solidFill>
              </a:defRPr>
            </a:pPr>
            <a:r>
              <a:t>StandardScaler Norm</a:t>
            </a:r>
            <a:br/>
            <a:r>
              <a:t>SVM Kernel RBF</a:t>
            </a:r>
            <a:br/>
            <a:r>
              <a:t>Prediksi Label 0-7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286000"/>
            <a:ext cx="2103120" cy="292608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4. Logika Kontrol</a:t>
            </a:r>
          </a:p>
          <a:p>
            <a:br/>
            <a:pPr algn="ctr">
              <a:defRPr sz="1400">
                <a:solidFill>
                  <a:srgbClr val="DCEBFF"/>
                </a:solidFill>
              </a:defRPr>
            </a:pPr>
            <a:r>
              <a:t>Euclidean Distance</a:t>
            </a:r>
            <a:br/>
            <a:r>
              <a:t>Temporal Timer</a:t>
            </a:r>
            <a:br/>
            <a:r>
              <a:t>PyAutoGUI &amp; Win32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2286000"/>
            <a:ext cx="2103120" cy="29260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5. Rendering UI</a:t>
            </a:r>
          </a:p>
          <a:p>
            <a:br/>
            <a:pPr algn="ctr">
              <a:defRPr sz="1400">
                <a:solidFill>
                  <a:srgbClr val="DCEBFF"/>
                </a:solidFill>
              </a:defRPr>
            </a:pPr>
            <a:r>
              <a:t>Hologram Overlay</a:t>
            </a:r>
            <a:br/>
            <a:r>
              <a:t>Hover Progress Bar</a:t>
            </a:r>
            <a:br/>
            <a:r>
              <a:t>24-30 FPS Feed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0C4DE"/>
                </a:solidFill>
              </a:defRPr>
            </a:pPr>
            <a:r>
              <a:t>DACTYL-AI V2.5 -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Konsep Bimanual Interface (Dual-Wielding)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Dactyl-AI V2.5: Real-Time Hand-Landmark Control System  |  Slide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2062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3366"/>
                </a:solidFill>
              </a:defRPr>
            </a:pPr>
            <a:r>
              <a:t>TANGAN KIRI (System &amp; Shortcut Controller)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</a:defRPr>
            </a:pPr>
            <a:r>
              <a:t>• Brightness Control: Rotasi C-shape (atan2) dengan eksekusi PowerShell Asynchronous.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</a:defRPr>
            </a:pPr>
            <a:r>
              <a:t>• Task Switcher (Alt+Tab): Swipe horizontal cepat kanan (&gt;1.3) atau kiri (&lt;-1.3).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</a:defRPr>
            </a:pPr>
            <a:r>
              <a:t>• Keyboard Summon Support: Menahan gestur Peace (V-sign) bersama tangan kanan.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</a:defRPr>
            </a:pPr>
            <a:r>
              <a:t>• Screenshot Frame Support: Membentuk sudut kiri bingkai kamera bounding box.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2062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009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994C"/>
                </a:solidFill>
              </a:defRPr>
            </a:pPr>
            <a:r>
              <a:t>TANGAN KANAN (Navigation &amp; Action Controller)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</a:defRPr>
            </a:pPr>
            <a:r>
              <a:t>• Cursor Navigation (Label 0): Telunjuk lurus mengontrol kursor dengan EMA Jitter Filter.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</a:defRPr>
            </a:pPr>
            <a:r>
              <a:t>• Click &amp; Drag (Label 1): Cubit jempol &amp; telunjuk (&lt;0.045) untuk Klik Kiri / Hold-Drag.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</a:defRPr>
            </a:pPr>
            <a:r>
              <a:t>• Right Click: Cubit jempol &amp; jari tengah kanan (cooldown 0.4s).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</a:defRPr>
            </a:pPr>
            <a:r>
              <a:t>• Volume Audio Control: Rotasi pergelangan tangan C-shape searah/berlawanan jarum jam.</a:t>
            </a:r>
          </a:p>
          <a:p>
            <a:pPr>
              <a:spcBef>
                <a:spcPts val="1000"/>
              </a:spcBef>
              <a:defRPr sz="1400">
                <a:solidFill>
                  <a:srgbClr val="3C3C3C"/>
                </a:solidFill>
              </a:defRPr>
            </a:pPr>
            <a:r>
              <a:t>• Scroll Ninja (Label 5): Delta posisi dx, dy jari tengah untuk scroll vertikal/horizontal.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0C4DE"/>
                </a:solidFill>
              </a:defRPr>
            </a:pPr>
            <a:r>
              <a:t>DACTYL-AI V2.5 -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Gestur Navigasi &amp; Klik (Label 0 &amp; Label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Dactyl-AI V2.5: Real-Time Hand-Landmark Control System  |  Slide 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698480" cy="2286000"/>
          </a:xfrm>
          <a:prstGeom prst="rect">
            <a:avLst/>
          </a:prstGeom>
          <a:solidFill>
            <a:srgbClr val="F0F6F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3366"/>
                </a:solidFill>
              </a:defRPr>
            </a:pPr>
            <a:r>
              <a:t>LABEL 0 : TELUNJUK LURUS (Move / Navigation Mode)</a:t>
            </a:r>
          </a:p>
          <a:p>
            <a:pPr>
              <a:spcBef>
                <a:spcPts val="800"/>
              </a:spcBef>
              <a:defRPr sz="1500">
                <a:solidFill>
                  <a:srgbClr val="323232"/>
                </a:solidFill>
              </a:defRPr>
            </a:pPr>
            <a:r>
              <a:t>• Fungsi: Menggerakkan kursor mouse secara real-time berdasarkan koordinat ujung telunjuk kanan (Landmark 8).</a:t>
            </a:r>
            <a:br/>
            <a:r>
              <a:t>• Optimasi AI: Dilengkapi algoritma Heuristic Jitter Filtering menggunakan Exponential Moving Average (EMA) dengan alpha = 0.25. Filter ini meredam tremor alami tangan sehingga kursor bergerak sangat mulus seperti mouse optik fisik.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023360"/>
            <a:ext cx="10698480" cy="2377440"/>
          </a:xfrm>
          <a:prstGeom prst="rect">
            <a:avLst/>
          </a:prstGeom>
          <a:solidFill>
            <a:srgbClr val="F0F6F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3366"/>
                </a:solidFill>
              </a:defRPr>
            </a:pPr>
            <a:r>
              <a:t>LABEL 1 : CUBIT / PINCH (Click &amp; Drag Mode)</a:t>
            </a:r>
          </a:p>
          <a:p>
            <a:pPr>
              <a:spcBef>
                <a:spcPts val="800"/>
              </a:spcBef>
              <a:defRPr sz="1500">
                <a:solidFill>
                  <a:srgbClr val="323232"/>
                </a:solidFill>
              </a:defRPr>
            </a:pPr>
            <a:r>
              <a:t>• Kalkulasi Geometri: Menghitung Jarak Euclidean antara ujung jempol (Landmark 4) dan ujung jari lainnya (Threshold &lt; 0.045).</a:t>
            </a:r>
            <a:br/>
            <a:r>
              <a:t>• Klik Kiri: Cubit jempol + telunjuk dilepas cepat (&lt; 0.3 detik).</a:t>
            </a:r>
            <a:br/>
            <a:r>
              <a:t>• Hold-Drag: Cubit jempol + telunjuk ditahan (&gt; 0.3 detik) memicu event mouseDown untuk menyeret jendela/item.</a:t>
            </a:r>
            <a:br/>
            <a:r>
              <a:t>• Klik Kanan: Cubit jempol + jari tengah kanan (dengan cooldown 0.4 detik).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0C4DE"/>
                </a:solidFill>
              </a:defRPr>
            </a:pPr>
            <a:r>
              <a:t>DACTYL-AI V2.5 -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Kontrol Multimedia &amp; Scroll Ninja (Label 2 &amp;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Dactyl-AI V2.5: Real-Time Hand-Landmark Control System  |  Slide 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698480" cy="2286000"/>
          </a:xfrm>
          <a:prstGeom prst="rect">
            <a:avLst/>
          </a:prstGeom>
          <a:solidFill>
            <a:srgbClr val="F0F6F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3366"/>
                </a:solidFill>
              </a:defRPr>
            </a:pPr>
            <a:r>
              <a:t>LABEL 2 : MEGANG BOLA / C-SHAPE (Multimedia &amp; Brightness Control)</a:t>
            </a:r>
          </a:p>
          <a:p>
            <a:pPr>
              <a:spcBef>
                <a:spcPts val="800"/>
              </a:spcBef>
              <a:defRPr sz="1500">
                <a:solidFill>
                  <a:srgbClr val="323232"/>
                </a:solidFill>
              </a:defRPr>
            </a:pPr>
            <a:r>
              <a:t>• Kalkulasi Sudut: Menggunakan fungsi matematika atan2 untuk menghitung rotasi pergelangan (Landmark 0) ke jari tengah (Landmark 9).</a:t>
            </a:r>
            <a:br/>
            <a:r>
              <a:t>• Volume Control (Tangan Kanan): Memutar tangan searah/berlawanan jarum jam mengubah volume audio sistem.</a:t>
            </a:r>
            <a:br/>
            <a:r>
              <a:t>• Brightness Control (Tangan Kiri): Memutar tangan kiri memicu thread PowerShell Asynchronous (WmiSetBrightness) untuk mencerahkan/meredupkan layar tanpa menyebabkan bottleneck atau lag pada video feed.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solidFill>
            <a:srgbClr val="F0F6F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3366"/>
                </a:solidFill>
              </a:defRPr>
            </a:pPr>
            <a:r>
              <a:t>LABEL 5 : DUA JARI LURUS NINJA (Scroll Mode)</a:t>
            </a:r>
          </a:p>
          <a:p>
            <a:pPr>
              <a:spcBef>
                <a:spcPts val="800"/>
              </a:spcBef>
              <a:defRPr sz="1500">
                <a:solidFill>
                  <a:srgbClr val="323232"/>
                </a:solidFill>
              </a:defRPr>
            </a:pPr>
            <a:r>
              <a:t>• Pelacakan Delta Posisi: Posisi jari tengah (Landmark 9) dilacak pergerakan delta-nya (dx, dy) antar frame.</a:t>
            </a:r>
            <a:br/>
            <a:r>
              <a:t>• Scroll Vertikal &amp; Horizontal: Pergerakan vertikal memicu pyautogui.scroll (naik/turun), sedangkan pergerakan horizontal memicu pyautogui.hscroll (kiri/kanan) dengan faktor akselerasi yang sangat responsif.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0C4DE"/>
                </a:solidFill>
              </a:defRPr>
            </a:pPr>
            <a:r>
              <a:t>DACTYL-AI V2.5 -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Hologram Keyboard &amp; Screenshot (Label 3 &amp;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Dactyl-AI V2.5: Real-Time Hand-Landmark Control System  |  Slide 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698480" cy="2377440"/>
          </a:xfrm>
          <a:prstGeom prst="rect">
            <a:avLst/>
          </a:prstGeom>
          <a:solidFill>
            <a:srgbClr val="F0F6F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3366"/>
                </a:solidFill>
              </a:defRPr>
            </a:pPr>
            <a:r>
              <a:t>LABEL 3 : PEACE / DUAL V-SIGN (Hologram Keyboard Summoning)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Summoning: Tahan gestur Peace (V-Sign) dengan kedua tangan selama 2 detik untuk memunculkan Keyboard Virtual Transparan (3 baris QWERTY).</a:t>
            </a:r>
            <a:br/>
            <a:r>
              <a:t>• Hover Typing: Mengetik dilakukan dengan mengarahkan (hover) jari telunjuk ke kotak tombol selama 1.0 detik. Bar progres hijau terisi penuh sebelum karakter diketik. Tombol khusus: Space, Backspace, Enter, &amp; Close.</a:t>
            </a:r>
            <a:br/>
            <a:r>
              <a:t>• Keamanan: Saat keyboard aktif, navigasi kursor mouse dibekukan otomatis mencegah salah klik.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solidFill>
            <a:srgbClr val="F0F6F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3366"/>
                </a:solidFill>
              </a:defRPr>
            </a:pPr>
            <a:r>
              <a:t>LABEL 4 : FRAME KAMERA (Screenshot Area Mode)</a:t>
            </a:r>
          </a:p>
          <a:p>
            <a:pPr>
              <a:spcBef>
                <a:spcPts val="600"/>
              </a:spcBef>
              <a:defRPr sz="1400">
                <a:solidFill>
                  <a:srgbClr val="323232"/>
                </a:solidFill>
              </a:defRPr>
            </a:pPr>
            <a:r>
              <a:t>• Bounding Box Calculation: Membentuk bingkai kotak menggunakan jempol dan telunjuk dari kedua tangan. Sistem menghitung koordinat Bounding Box (x_min, y_min, x_max, y_max).</a:t>
            </a:r>
            <a:br/>
            <a:r>
              <a:t>• Eksekusi: Jika bingkai ditahan selama 1.5 detik (terdapat visual countdown bar &amp; bingkai sudut hijau), sistem memetakan koordinat kamera ke resolusi monitor, memotong screenshot, menyimpannya ke Data/screenshots/, dan memberi efek kamera flash putih.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0C4DE"/>
                </a:solidFill>
              </a:defRPr>
            </a:pPr>
            <a:r>
              <a:t>DACTYL-AI V2.5 -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Task Switcher &amp; Standby Lock (Label 6 &amp; 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Dactyl-AI V2.5: Real-Time Hand-Landmark Control System  |  Slide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698480" cy="2286000"/>
          </a:xfrm>
          <a:prstGeom prst="rect">
            <a:avLst/>
          </a:prstGeom>
          <a:solidFill>
            <a:srgbClr val="F0F6F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3366"/>
                </a:solidFill>
              </a:defRPr>
            </a:pPr>
            <a:r>
              <a:t>LABEL 6 : TANGAN TERBUKA KERTAS (Swipe Tab / Task Switcher)</a:t>
            </a:r>
          </a:p>
          <a:p>
            <a:pPr>
              <a:spcBef>
                <a:spcPts val="800"/>
              </a:spcBef>
              <a:defRPr sz="1500">
                <a:solidFill>
                  <a:srgbClr val="323232"/>
                </a:solidFill>
              </a:defRPr>
            </a:pPr>
            <a:r>
              <a:t>• Kalkulasi Velocity (dx/dt): Eksklusif Tangan Kiri. Sistem mencatat history posisi X selama beberapa frame untuk menghitung kecepatan geser.</a:t>
            </a:r>
            <a:br/>
            <a:r>
              <a:t>• Aksi Alt+Tab: Swipe Cepat ke Kanan (Velocity &gt; 1.3) memicu shortcut Alt + Tab (Next Tab). Swipe Cepat ke Kiri (Velocity &lt; -1.3) memicu Alt + Shift + Tab (Prev Tab).</a:t>
            </a:r>
            <a:br/>
            <a:r>
              <a:t>• Cooldown: Dilengkapi cooldown 1.2 detik agar tidak terjadi perpindahan tab tak terkendali.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solidFill>
            <a:srgbClr val="F0F6F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3366"/>
                </a:solidFill>
              </a:defRPr>
            </a:pPr>
            <a:r>
              <a:t>LABEL 7 : TANGAN MENGEPAL KUAT / FIST (Standby / Pause Lock Mode)</a:t>
            </a:r>
          </a:p>
          <a:p>
            <a:pPr>
              <a:spcBef>
                <a:spcPts val="800"/>
              </a:spcBef>
              <a:defRPr sz="1500">
                <a:solidFill>
                  <a:srgbClr val="323232"/>
                </a:solidFill>
              </a:defRPr>
            </a:pPr>
            <a:r>
              <a:t>• System Lock: Genggam tangan (fist) selama 1.0 detik untuk mengunci sistem saat beristirahat. Seluruh kontrol mouse dan keyboard dimatikan, digantikan oleh overlay merah semi-transparan.</a:t>
            </a:r>
            <a:br/>
            <a:r>
              <a:t>• Unlock: Untuk membuka kunci, pengguna cukup menggenggam tangan kembali selama 1.0 detik.</a:t>
            </a:r>
            <a:br/>
            <a:r>
              <a:t>• Keamanan: Fitur ini mencegah kursor bergerak liar saat pengguna minum atau duduk santai.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0C4DE"/>
                </a:solidFill>
              </a:defRPr>
            </a:pPr>
            <a:r>
              <a:t>DACTYL-AI V2.5 -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 Keunggulan Teknis &amp; Arsitektural Dactyl-AI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Dactyl-AI V2.5: Real-Time Hand-Landmark Control System  |  Slide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82296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003366"/>
                </a:solidFill>
              </a:rPr>
              <a:t>1. Dual-Wielding Bimanual Task Division — </a:t>
            </a:r>
            <a:r>
              <a:rPr sz="1400">
                <a:solidFill>
                  <a:srgbClr val="3C3C3C"/>
                </a:solidFill>
              </a:rPr>
              <a:t>Pembagian tugas kanan-kiri menghilangkan oklusi kamera dan konflik gestur.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10698480" cy="82296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003366"/>
                </a:solidFill>
              </a:rPr>
              <a:t>2. Heuristic Jitter Filtering (EMA) — </a:t>
            </a:r>
            <a:r>
              <a:rPr sz="1400">
                <a:solidFill>
                  <a:srgbClr val="3C3C3C"/>
                </a:solidFill>
              </a:rPr>
              <a:t>Filter Exponential Moving Average (alpha=0.25) meredam tremor alami tangan secara real-time.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698480" cy="82296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003366"/>
                </a:solidFill>
              </a:rPr>
              <a:t>3. Lightweight AI Engine (1D Vector ML) — </a:t>
            </a:r>
            <a:r>
              <a:rPr sz="1400">
                <a:solidFill>
                  <a:srgbClr val="3C3C3C"/>
                </a:solidFill>
              </a:rPr>
              <a:t>SVM pada vektor numerik 126D jauh lebih ringan dibanding pemrosesan citra 2D CNN.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51960"/>
            <a:ext cx="10698480" cy="82296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003366"/>
                </a:solidFill>
              </a:rPr>
              <a:t>4. Non-Intrusive Always-on-Top GUI — </a:t>
            </a:r>
            <a:r>
              <a:rPr sz="1400">
                <a:solidFill>
                  <a:srgbClr val="3C3C3C"/>
                </a:solidFill>
              </a:rPr>
              <a:t>Win32 API membuat window kamera selalu di atas (topmost), transparan 60%, dan di pojok layar.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698480" cy="822960"/>
          </a:xfrm>
          <a:prstGeom prst="round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003366"/>
                </a:solidFill>
              </a:rPr>
              <a:t>5. Asynchronous PowerShell Threading — </a:t>
            </a:r>
            <a:r>
              <a:rPr sz="1400">
                <a:solidFill>
                  <a:srgbClr val="3C3C3C"/>
                </a:solidFill>
              </a:rPr>
              <a:t>Eksekusi WMI Windows di background thread menjaga FPS kamera stabil di 24-30 FPS.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0C4DE"/>
                </a:solidFill>
              </a:defRPr>
            </a:pPr>
            <a:r>
              <a:t>DACTYL-AI V2.5 -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Struktur Kode Program &amp; Strategi Pelatihan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Dactyl-AI V2.5: Real-Time Hand-Landmark Control System  |  Slide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698480" cy="1417320"/>
          </a:xfrm>
          <a:prstGeom prst="rect">
            <a:avLst/>
          </a:prstGeom>
          <a:solidFill>
            <a:srgbClr val="F5F8FC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src/data_collection.py  |  PEREKAMAN DATASET BIMANUAL</a:t>
            </a:r>
          </a:p>
          <a:p>
            <a:pPr>
              <a:spcBef>
                <a:spcPts val="600"/>
              </a:spcBef>
              <a:defRPr sz="1400">
                <a:solidFill>
                  <a:srgbClr val="464646"/>
                </a:solidFill>
              </a:defRPr>
            </a:pPr>
            <a:r>
              <a:t>Mengambil 126 koordinat dari MediaPipe dan menyimpannya ke Data/dataset_bimanual.csv. Perekaman dikontrol dengan menahan tombol keyboard [0] sampai [7] saat berpose.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63240"/>
            <a:ext cx="10698480" cy="1417320"/>
          </a:xfrm>
          <a:prstGeom prst="rect">
            <a:avLst/>
          </a:prstGeom>
          <a:solidFill>
            <a:srgbClr val="F5F8FC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src/train_model.py  |  PELATIHAN AI BRAIN (SVM)</a:t>
            </a:r>
          </a:p>
          <a:p>
            <a:pPr>
              <a:spcBef>
                <a:spcPts val="600"/>
              </a:spcBef>
              <a:defRPr sz="1400">
                <a:solidFill>
                  <a:srgbClr val="464646"/>
                </a:solidFill>
              </a:defRPr>
            </a:pPr>
            <a:r>
              <a:t>Membagi dataset menjadi 80% Train, 10% Validation, dan 10% Test dengan stratified sampling. Melakukan normalisasi StandardScaler dan melatih SVM Kernel RBF (C=10). Menyimpan model ke models/svm_gesture_model.pkl.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663440"/>
            <a:ext cx="10698480" cy="1417320"/>
          </a:xfrm>
          <a:prstGeom prst="rect">
            <a:avLst/>
          </a:prstGeom>
          <a:solidFill>
            <a:srgbClr val="F5F8FC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03366"/>
                </a:solidFill>
              </a:defRPr>
            </a:pPr>
            <a:r>
              <a:t>src/run_system.py  |  EKSEKUSI REAL-TIME PIPELINE</a:t>
            </a:r>
          </a:p>
          <a:p>
            <a:pPr>
              <a:spcBef>
                <a:spcPts val="600"/>
              </a:spcBef>
              <a:defRPr sz="1400">
                <a:solidFill>
                  <a:srgbClr val="464646"/>
                </a:solidFill>
              </a:defRPr>
            </a:pPr>
            <a:r>
              <a:t>Modul utama yang memuat model AI &amp; scaler, menjalankan loop kamera 24-30 FPS, mendeteksi landmark, memprediksi gestur, dan mengeksekusi logika kontrol kursor, keyboard, &amp; UI hologram.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0C4DE"/>
                </a:solidFill>
              </a:defRPr>
            </a:pPr>
            <a:r>
              <a:t>DACTYL-AI V2.5 -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Kesimpulan &amp; Harapan Pengembangan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Dactyl-AI V2.5: Real-Time Hand-Landmark Control System  |  Slide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500"/>
              </a:spcAft>
            </a:pPr>
            <a:r>
              <a:rPr b="1" sz="2000">
                <a:solidFill>
                  <a:srgbClr val="003366"/>
                </a:solidFill>
              </a:rPr>
              <a:t>✔ Sinergi AI &amp; Geometri Spasial
</a:t>
            </a:r>
            <a:r>
              <a:rPr sz="1600">
                <a:solidFill>
                  <a:srgbClr val="3C3C3C"/>
                </a:solidFill>
              </a:rPr>
              <a:t>Dactyl-AI membuktikan bahwa penggabungan pemrosesan numerik 126 atribut MediaPipe dengan Support Vector Machine dan logika geometri spasial mampu menghasilkan kontrol sistem tanpa sentuhan yang berpresisi tinggi.</a:t>
            </a:r>
          </a:p>
          <a:p>
            <a:pPr>
              <a:spcBef>
                <a:spcPts val="1000"/>
              </a:spcBef>
              <a:spcAft>
                <a:spcPts val="1500"/>
              </a:spcAft>
            </a:pPr>
            <a:r>
              <a:rPr b="1" sz="2000">
                <a:solidFill>
                  <a:srgbClr val="003366"/>
                </a:solidFill>
              </a:rPr>
              <a:t>✔ Solusi Praktis &amp; Stabil
</a:t>
            </a:r>
            <a:r>
              <a:rPr sz="1600">
                <a:solidFill>
                  <a:srgbClr val="3C3C3C"/>
                </a:solidFill>
              </a:rPr>
              <a:t>Dengan performa real-time (24-30 FPS), fitur peredam getaran (EMA Jitter Filter), dan desain antarmuka Win32 transparan yang ergonomis, sistem ini menjadi solusi HCI yang sangat praktis dan stabil.</a:t>
            </a:r>
          </a:p>
          <a:p>
            <a:pPr>
              <a:spcBef>
                <a:spcPts val="1000"/>
              </a:spcBef>
              <a:spcAft>
                <a:spcPts val="1500"/>
              </a:spcAft>
            </a:pPr>
            <a:r>
              <a:rPr b="1" sz="2000">
                <a:solidFill>
                  <a:srgbClr val="003366"/>
                </a:solidFill>
              </a:rPr>
              <a:t>✔ Masa Depan Antarmuka Komputer
</a:t>
            </a:r>
            <a:r>
              <a:rPr sz="1600">
                <a:solidFill>
                  <a:srgbClr val="3C3C3C"/>
                </a:solidFill>
              </a:rPr>
              <a:t>Dactyl-AI membuka jalan bagi generasi baru antarmuka pengguna di bidang realitas bertambah (AR/VR), ruang operasi medis steril, presentasi interaktif, hingga aksesibilitas bagi pengguna dengan keterbatasan fisik.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
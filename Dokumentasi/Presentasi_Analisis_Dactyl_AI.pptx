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914400" y="1645920"/>
            <a:ext cx="10362895" cy="3657600"/>
          </a:xfrm>
          <a:prstGeom prst="rect">
            <a:avLst/>
          </a:prstGeom>
          <a:noFill/>
        </p:spPr>
        <p:txBody>
          <a:bodyPr wrap="square">
            <a:spAutoFit/>
          </a:bodyPr>
          <a:lstStyle/>
          <a:p>
            <a:pPr>
              <a:defRPr sz="1300" b="1">
                <a:solidFill>
                  <a:srgbClr val="00FF88"/>
                </a:solidFill>
                <a:latin typeface="Arial"/>
              </a:defRPr>
            </a:pPr>
            <a:r>
              <a:t>🤖 COMPUTER VISION  |  🧠 MACHINE LEARNING  |  👆 TOUCHLESS HCI</a:t>
            </a:r>
          </a:p>
          <a:p>
            <a:br/>
            <a:pPr>
              <a:defRPr sz="4400" b="1">
                <a:solidFill>
                  <a:srgbClr val="00D4FF"/>
                </a:solidFill>
                <a:latin typeface="Arial"/>
              </a:defRPr>
            </a:pPr>
            <a:r>
              <a:t>DACTYL-AI V2.5</a:t>
            </a:r>
          </a:p>
          <a:p>
            <a:pPr>
              <a:defRPr sz="2200" b="1">
                <a:solidFill>
                  <a:srgbClr val="FFFFFF"/>
                </a:solidFill>
                <a:latin typeface="Arial"/>
              </a:defRPr>
            </a:pPr>
            <a:r>
              <a:t>Magic Cursor Bimanual System — Real-Time Hand Gesture Control &amp; Virtual Keyboard</a:t>
            </a:r>
          </a:p>
          <a:p>
            <a:br/>
            <a:pPr>
              <a:defRPr sz="1400">
                <a:solidFill>
                  <a:srgbClr val="A0AEC0"/>
                </a:solidFill>
                <a:latin typeface="Arial"/>
              </a:defRPr>
            </a:pPr>
            <a:r>
              <a:t>Analisis Implementasi, Evaluasi Arsitektur Perangkat Lunak, &amp; Audit Kritis Jurnal Ilmiah</a:t>
            </a:r>
            <a:br/>
            <a:r>
              <a:t>Berdasarkan Aktual Source Code Review (data_collection.py, train_model.py, run_system.py)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Agenda Pembahasan &amp; Struktur Analisis</a:t>
            </a:r>
          </a:p>
        </p:txBody>
      </p:sp>
      <p:sp>
        <p:nvSpPr>
          <p:cNvPr id="3" name="Rounded Rectangle 2"/>
          <p:cNvSpPr/>
          <p:nvPr/>
        </p:nvSpPr>
        <p:spPr>
          <a:xfrm>
            <a:off x="548640"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defRPr sz="1600" b="1">
                <a:solidFill>
                  <a:srgbClr val="00D4FF"/>
                </a:solidFill>
                <a:latin typeface="Arial"/>
              </a:defRPr>
            </a:pPr>
            <a:r>
              <a:t>📌 Bagian I: Fondasi Sistem</a:t>
            </a:r>
          </a:p>
          <a:p>
            <a:br/>
            <a:pPr>
              <a:defRPr sz="1300">
                <a:solidFill>
                  <a:srgbClr val="F0F4F8"/>
                </a:solidFill>
                <a:latin typeface="Arial"/>
              </a:defRPr>
            </a:pPr>
            <a:r>
              <a:t>• Latar Belakang &amp; Masalah HCI Touchless</a:t>
            </a:r>
          </a:p>
          <a:p>
            <a:br/>
            <a:pPr>
              <a:defRPr sz="1300">
                <a:solidFill>
                  <a:srgbClr val="F0F4F8"/>
                </a:solidFill>
                <a:latin typeface="Arial"/>
              </a:defRPr>
            </a:pPr>
            <a:r>
              <a:t>• Tujuan Sistem &amp; Kontribusi Teknis</a:t>
            </a:r>
          </a:p>
          <a:p>
            <a:br/>
            <a:pPr>
              <a:defRPr sz="1300">
                <a:solidFill>
                  <a:srgbClr val="F0F4F8"/>
                </a:solidFill>
                <a:latin typeface="Arial"/>
              </a:defRPr>
            </a:pPr>
            <a:r>
              <a:t>• Arsitektur Software &amp; Modul Utama</a:t>
            </a:r>
          </a:p>
          <a:p>
            <a:br/>
            <a:pPr>
              <a:defRPr sz="1300">
                <a:solidFill>
                  <a:srgbClr val="F0F4F8"/>
                </a:solidFill>
                <a:latin typeface="Arial"/>
              </a:defRPr>
            </a:pPr>
            <a:r>
              <a:t>• Real-Time Pipeline 5 Tahap</a:t>
            </a:r>
          </a:p>
        </p:txBody>
      </p:sp>
      <p:sp>
        <p:nvSpPr>
          <p:cNvPr id="4" name="Rounded Rectangle 3"/>
          <p:cNvSpPr/>
          <p:nvPr/>
        </p:nvSpPr>
        <p:spPr>
          <a:xfrm>
            <a:off x="3337560"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defRPr sz="1600" b="1">
                <a:solidFill>
                  <a:srgbClr val="00FF88"/>
                </a:solidFill>
                <a:latin typeface="Arial"/>
              </a:defRPr>
            </a:pPr>
            <a:r>
              <a:t>⚙️ Bagian II: AI &amp; Gestur</a:t>
            </a:r>
          </a:p>
          <a:p>
            <a:br/>
            <a:pPr>
              <a:defRPr sz="1300">
                <a:solidFill>
                  <a:srgbClr val="F0F4F8"/>
                </a:solidFill>
                <a:latin typeface="Arial"/>
              </a:defRPr>
            </a:pPr>
            <a:r>
              <a:t>• 21 Hand Landmarks &amp; Vektor 126D</a:t>
            </a:r>
          </a:p>
          <a:p>
            <a:br/>
            <a:pPr>
              <a:defRPr sz="1300">
                <a:solidFill>
                  <a:srgbClr val="F0F4F8"/>
                </a:solidFill>
                <a:latin typeface="Arial"/>
              </a:defRPr>
            </a:pPr>
            <a:r>
              <a:t>• SVM Classifier &amp; Pipeline Pelatihan</a:t>
            </a:r>
          </a:p>
          <a:p>
            <a:br/>
            <a:pPr>
              <a:defRPr sz="1300">
                <a:solidFill>
                  <a:srgbClr val="F0F4F8"/>
                </a:solidFill>
                <a:latin typeface="Arial"/>
              </a:defRPr>
            </a:pPr>
            <a:r>
              <a:t>• Mekanisme 8 Klasifikasi Gestur</a:t>
            </a:r>
          </a:p>
          <a:p>
            <a:br/>
            <a:pPr>
              <a:defRPr sz="1300">
                <a:solidFill>
                  <a:srgbClr val="F0F4F8"/>
                </a:solidFill>
                <a:latin typeface="Arial"/>
              </a:defRPr>
            </a:pPr>
            <a:r>
              <a:t>• Hologram Virtual Keyboard</a:t>
            </a:r>
          </a:p>
        </p:txBody>
      </p:sp>
      <p:sp>
        <p:nvSpPr>
          <p:cNvPr id="5" name="Rounded Rectangle 4"/>
          <p:cNvSpPr/>
          <p:nvPr/>
        </p:nvSpPr>
        <p:spPr>
          <a:xfrm>
            <a:off x="6126479"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defRPr sz="1600" b="1">
                <a:solidFill>
                  <a:srgbClr val="B066FF"/>
                </a:solidFill>
                <a:latin typeface="Arial"/>
              </a:defRPr>
            </a:pPr>
            <a:r>
              <a:t>📊 Bagian III: Analisis Data</a:t>
            </a:r>
          </a:p>
          <a:p>
            <a:br/>
            <a:pPr>
              <a:defRPr sz="1300">
                <a:solidFill>
                  <a:srgbClr val="F0F4F8"/>
                </a:solidFill>
                <a:latin typeface="Arial"/>
              </a:defRPr>
            </a:pPr>
            <a:r>
              <a:t>• Audit Dataset 1.647 Sampel</a:t>
            </a:r>
          </a:p>
          <a:p>
            <a:br/>
            <a:pPr>
              <a:defRPr sz="1300">
                <a:solidFill>
                  <a:srgbClr val="F0F4F8"/>
                </a:solidFill>
                <a:latin typeface="Arial"/>
              </a:defRPr>
            </a:pPr>
            <a:r>
              <a:t>• Breakdown Lateralitas Tangan</a:t>
            </a:r>
          </a:p>
          <a:p>
            <a:br/>
            <a:pPr>
              <a:defRPr sz="1300">
                <a:solidFill>
                  <a:srgbClr val="F0F4F8"/>
                </a:solidFill>
                <a:latin typeface="Arial"/>
              </a:defRPr>
            </a:pPr>
            <a:r>
              <a:t>• Isyarat Bimanual vs Single-hand</a:t>
            </a:r>
          </a:p>
          <a:p>
            <a:br/>
            <a:pPr>
              <a:defRPr sz="1300">
                <a:solidFill>
                  <a:srgbClr val="F0F4F8"/>
                </a:solidFill>
                <a:latin typeface="Arial"/>
              </a:defRPr>
            </a:pPr>
            <a:r>
              <a:t>• Keunggulan Fitur EMA &amp; Win32 API</a:t>
            </a:r>
          </a:p>
        </p:txBody>
      </p:sp>
      <p:sp>
        <p:nvSpPr>
          <p:cNvPr id="6" name="Rounded Rectangle 5"/>
          <p:cNvSpPr/>
          <p:nvPr/>
        </p:nvSpPr>
        <p:spPr>
          <a:xfrm>
            <a:off x="8915399"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defRPr sz="1600" b="1">
                <a:solidFill>
                  <a:srgbClr val="FF6B6B"/>
                </a:solidFill>
                <a:latin typeface="Arial"/>
              </a:defRPr>
            </a:pPr>
            <a:r>
              <a:t>🔬 Bagian IV: Audit Kritis</a:t>
            </a:r>
          </a:p>
          <a:p>
            <a:br/>
            <a:pPr>
              <a:defRPr sz="1300">
                <a:solidFill>
                  <a:srgbClr val="F0F4F8"/>
                </a:solidFill>
                <a:latin typeface="Arial"/>
              </a:defRPr>
            </a:pPr>
            <a:r>
              <a:t>• Temuan Bug Kritis (P0 - P3)</a:t>
            </a:r>
          </a:p>
          <a:p>
            <a:br/>
            <a:pPr>
              <a:defRPr sz="1300">
                <a:solidFill>
                  <a:srgbClr val="F0F4F8"/>
                </a:solidFill>
                <a:latin typeface="Arial"/>
              </a:defRPr>
            </a:pPr>
            <a:r>
              <a:t>• Kelemahan Metodologi Evaluasi</a:t>
            </a:r>
          </a:p>
          <a:p>
            <a:br/>
            <a:pPr>
              <a:defRPr sz="1300">
                <a:solidFill>
                  <a:srgbClr val="F0F4F8"/>
                </a:solidFill>
                <a:latin typeface="Arial"/>
              </a:defRPr>
            </a:pPr>
            <a:r>
              <a:t>• Roadmap Perbaikan Prioritas</a:t>
            </a:r>
          </a:p>
          <a:p>
            <a:br/>
            <a:pPr>
              <a:defRPr sz="1300">
                <a:solidFill>
                  <a:srgbClr val="F0F4F8"/>
                </a:solidFill>
                <a:latin typeface="Arial"/>
              </a:defRPr>
            </a:pPr>
            <a:r>
              <a:t>• Kesimpulan &amp; Kesiapan Jurnal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Latar Belakang &amp; Rumusan Masalah HCI</a:t>
            </a:r>
          </a:p>
        </p:txBody>
      </p:sp>
      <p:sp>
        <p:nvSpPr>
          <p:cNvPr id="3" name="Rounded Rectangle 2"/>
          <p:cNvSpPr/>
          <p:nvPr/>
        </p:nvSpPr>
        <p:spPr>
          <a:xfrm>
            <a:off x="54864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defRPr sz="1800" b="1">
                <a:solidFill>
                  <a:srgbClr val="00D4FF"/>
                </a:solidFill>
                <a:latin typeface="Arial"/>
              </a:defRPr>
            </a:pPr>
            <a:r>
              <a:t>💡 Konteks &amp; Tantangan Touchless Control</a:t>
            </a:r>
          </a:p>
          <a:p>
            <a:br/>
            <a:pPr>
              <a:defRPr sz="1400">
                <a:solidFill>
                  <a:srgbClr val="F0F4F8"/>
                </a:solidFill>
              </a:defRPr>
            </a:pPr>
            <a:r>
              <a:t>• Kebutuhan Antarmuka Nirsentuh:</a:t>
            </a:r>
            <a:br/>
            <a:r>
              <a:t>Dalam skenario medis steril, aksesibilitas difabel motorik, maupun AR/VR, kontrol mouse fisik menjadi hambatan.</a:t>
            </a:r>
          </a:p>
          <a:p>
            <a:br/>
            <a:pPr>
              <a:defRPr sz="1400">
                <a:solidFill>
                  <a:srgbClr val="F0F4F8"/>
                </a:solidFill>
              </a:defRPr>
            </a:pPr>
            <a:r>
              <a:t>• Tantangan Utama Vision-Based HCI:</a:t>
            </a:r>
            <a:br/>
            <a:r>
              <a:t>1. Latensi komputasi tinggi jika menggunakan pemrosesan gambar full-frame 2D (CNN).</a:t>
            </a:r>
            <a:br/>
            <a:r>
              <a:t>2. Tremor / getaran alami tangan manusia (jitter) yang membuat kursor bergoyang.</a:t>
            </a:r>
            <a:br/>
            <a:r>
              <a:t>3. Oklusi visual saat jari saling menutupi pada interaksi satu tangan.</a:t>
            </a:r>
          </a:p>
        </p:txBody>
      </p:sp>
      <p:sp>
        <p:nvSpPr>
          <p:cNvPr id="4" name="Rounded Rectangle 3"/>
          <p:cNvSpPr/>
          <p:nvPr/>
        </p:nvSpPr>
        <p:spPr>
          <a:xfrm>
            <a:off x="621792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defRPr sz="1800" b="1">
                <a:solidFill>
                  <a:srgbClr val="00FF88"/>
                </a:solidFill>
                <a:latin typeface="Arial"/>
              </a:defRPr>
            </a:pPr>
            <a:r>
              <a:t>🎯 Solusi Arsitektur Dactyl-AI V2.5</a:t>
            </a:r>
          </a:p>
          <a:p>
            <a:br/>
            <a:pPr>
              <a:defRPr sz="1400">
                <a:solidFill>
                  <a:srgbClr val="F0F4F8"/>
                </a:solidFill>
              </a:defRPr>
            </a:pPr>
            <a:r>
              <a:t>• Bimanual Task Division (Interaksi Dua Tangan):</a:t>
            </a:r>
            <a:br/>
            <a:r>
              <a:t>Memisahkan tangan kanan (navigasi kursor &amp; klik) dan tangan kiri (shortcut &amp; brightness) untuk mencegah oklusi.</a:t>
            </a:r>
          </a:p>
          <a:p>
            <a:br/>
            <a:pPr>
              <a:defRPr sz="1400">
                <a:solidFill>
                  <a:srgbClr val="F0F4F8"/>
                </a:solidFill>
              </a:defRPr>
            </a:pPr>
            <a:r>
              <a:t>• Lightweight Vector Classification (126D):</a:t>
            </a:r>
            <a:br/>
            <a:r>
              <a:t>Mengekstrak 21 landmark 3D menjadi vektor 126 dimensi, menghasilkan inference real-time super cepat di CPU standar.</a:t>
            </a:r>
          </a:p>
          <a:p>
            <a:br/>
            <a:pPr>
              <a:defRPr sz="1400">
                <a:solidFill>
                  <a:srgbClr val="F0F4F8"/>
                </a:solidFill>
              </a:defRPr>
            </a:pPr>
            <a:r>
              <a:t>• Exponential Moving Average (EMA) Smoothing:</a:t>
            </a:r>
            <a:br/>
            <a:r>
              <a:t>Menerapkan filter matematika α=0.25 untuk menghapus tremor kursor secara heuristik tanpa lag perseptual.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Stack Teknologi &amp; Struktur Modul</a:t>
            </a:r>
          </a:p>
        </p:txBody>
      </p:sp>
      <p:sp>
        <p:nvSpPr>
          <p:cNvPr id="3" name="Rounded Rectangle 2"/>
          <p:cNvSpPr/>
          <p:nvPr/>
        </p:nvSpPr>
        <p:spPr>
          <a:xfrm>
            <a:off x="548640" y="1463040"/>
            <a:ext cx="3520440" cy="29260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700" b="1">
                <a:solidFill>
                  <a:srgbClr val="00D4FF"/>
                </a:solidFill>
                <a:latin typeface="Arial"/>
              </a:defRPr>
            </a:pPr>
            <a:r>
              <a:t>👁️ Computer Vision</a:t>
            </a:r>
          </a:p>
          <a:p>
            <a:br/>
            <a:pPr>
              <a:defRPr sz="1400">
                <a:solidFill>
                  <a:srgbClr val="F0F4F8"/>
                </a:solidFill>
              </a:defRPr>
            </a:pPr>
            <a:r>
              <a:t>OpenCV (video capture 720p, flip mirror, UI render) &amp; MediaPipe Hands (0.10.14) untuk ekstraksi 21 hand landmarks 3D secara real-time.</a:t>
            </a:r>
          </a:p>
        </p:txBody>
      </p:sp>
      <p:sp>
        <p:nvSpPr>
          <p:cNvPr id="4" name="Rounded Rectangle 3"/>
          <p:cNvSpPr/>
          <p:nvPr/>
        </p:nvSpPr>
        <p:spPr>
          <a:xfrm>
            <a:off x="4297679" y="1463040"/>
            <a:ext cx="3520440" cy="29260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700" b="1">
                <a:solidFill>
                  <a:srgbClr val="00FF88"/>
                </a:solidFill>
                <a:latin typeface="Arial"/>
              </a:defRPr>
            </a:pPr>
            <a:r>
              <a:t>🧠 Machine Learning</a:t>
            </a:r>
          </a:p>
          <a:p>
            <a:br/>
            <a:pPr>
              <a:defRPr sz="1400">
                <a:solidFill>
                  <a:srgbClr val="F0F4F8"/>
                </a:solidFill>
              </a:defRPr>
            </a:pPr>
            <a:r>
              <a:t>Scikit-Learn (SVC kernel RBF, C=10, gamma='scale') &amp; StandardScaler untuk normalisasi dan klasifikasi 8 kelas gestur dengan cepat.</a:t>
            </a:r>
          </a:p>
        </p:txBody>
      </p:sp>
      <p:sp>
        <p:nvSpPr>
          <p:cNvPr id="5" name="Rounded Rectangle 4"/>
          <p:cNvSpPr/>
          <p:nvPr/>
        </p:nvSpPr>
        <p:spPr>
          <a:xfrm>
            <a:off x="8046719" y="1463040"/>
            <a:ext cx="3520440" cy="29260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700" b="1">
                <a:solidFill>
                  <a:srgbClr val="B066FF"/>
                </a:solidFill>
                <a:latin typeface="Arial"/>
              </a:defRPr>
            </a:pPr>
            <a:r>
              <a:t>⚙️ OS Control &amp; GUI</a:t>
            </a:r>
          </a:p>
          <a:p>
            <a:br/>
            <a:pPr>
              <a:defRPr sz="1400">
                <a:solidFill>
                  <a:srgbClr val="F0F4F8"/>
                </a:solidFill>
              </a:defRPr>
            </a:pPr>
            <a:r>
              <a:t>PyAutoGUI (mouse/keyboard), Win32 API (always-on-top transparent window 60%), &amp; PowerShell WMI Async untuk kontrol kecerahan.</a:t>
            </a:r>
          </a:p>
        </p:txBody>
      </p:sp>
      <p:sp>
        <p:nvSpPr>
          <p:cNvPr id="6" name="Rounded Rectangle 5"/>
          <p:cNvSpPr/>
          <p:nvPr/>
        </p:nvSpPr>
        <p:spPr>
          <a:xfrm>
            <a:off x="548640" y="4663440"/>
            <a:ext cx="11064240" cy="1554480"/>
          </a:xfrm>
          <a:prstGeom prst="roundRect">
            <a:avLst/>
          </a:prstGeom>
          <a:solidFill>
            <a:srgbClr val="1E264B"/>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a:lstStyle/>
          <a:p>
            <a:pPr algn="ctr">
              <a:defRPr sz="1600" b="1">
                <a:solidFill>
                  <a:srgbClr val="FFD700"/>
                </a:solidFill>
                <a:latin typeface="Arial"/>
              </a:defRPr>
            </a:pPr>
            <a:r>
              <a:t>📁 Struktur Modul Utama (src/) &amp; Pipeline Aliran Data</a:t>
            </a:r>
          </a:p>
          <a:p>
            <a:pPr>
              <a:defRPr sz="1300">
                <a:solidFill>
                  <a:srgbClr val="F0F4F8"/>
                </a:solidFill>
              </a:defRPr>
            </a:pPr>
            <a:r>
              <a:t>1. data_collection.py (110 baris): Akuisisi koordinat landmark dan penyimpanan ke file dataset_bimanual.csv (1647 baris × 127 kolom).</a:t>
            </a:r>
            <a:br/>
            <a:r>
              <a:t>2. train_model.py (68 baris): Normalisasi StandardScaler, pemisahan data 80:10:10, pelatihan SVM rbf, dan serialisasi ke svm_gesture_model.pkl.</a:t>
            </a:r>
            <a:br/>
            <a:r>
              <a:t>3. run_system.py (639 baris): Main loop real-time inference, koreksi mirror, rule engine 8 gestur, dan render GUI Win32 transparan 360×202 px.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Real-Time Processing Pipeline (5 Tahap)</a:t>
            </a:r>
          </a:p>
        </p:txBody>
      </p:sp>
      <p:sp>
        <p:nvSpPr>
          <p:cNvPr id="3" name="Rounded Rectangle 2"/>
          <p:cNvSpPr/>
          <p:nvPr/>
        </p:nvSpPr>
        <p:spPr>
          <a:xfrm>
            <a:off x="548640" y="1371600"/>
            <a:ext cx="11064240" cy="8686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600" b="1">
                <a:solidFill>
                  <a:srgbClr val="00D4FF"/>
                </a:solidFill>
                <a:latin typeface="Arial"/>
              </a:defRPr>
            </a:pPr>
            <a:r>
              <a:t>01. Akuisisi &amp; Preprocessing Video</a:t>
            </a:r>
          </a:p>
          <a:p>
            <a:pPr>
              <a:defRPr sz="1350">
                <a:solidFill>
                  <a:srgbClr val="F0F4F8"/>
                </a:solidFill>
              </a:defRPr>
            </a:pPr>
            <a:r>
              <a:t>Webcam 1280×720 piksel ➔ Flip horizontal (mirroring) agar nyaman seperti berkaca ➔ Konversi BGR ke RGB.</a:t>
            </a:r>
          </a:p>
        </p:txBody>
      </p:sp>
      <p:sp>
        <p:nvSpPr>
          <p:cNvPr id="4" name="Rounded Rectangle 3"/>
          <p:cNvSpPr/>
          <p:nvPr/>
        </p:nvSpPr>
        <p:spPr>
          <a:xfrm>
            <a:off x="548640" y="2331720"/>
            <a:ext cx="11064240" cy="8686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600" b="1">
                <a:solidFill>
                  <a:srgbClr val="00FF88"/>
                </a:solidFill>
                <a:latin typeface="Arial"/>
              </a:defRPr>
            </a:pPr>
            <a:r>
              <a:t>02. Ekstraksi Landmark &amp; Koreksi Mirror</a:t>
            </a:r>
          </a:p>
          <a:p>
            <a:pPr>
              <a:defRPr sz="1350">
                <a:solidFill>
                  <a:srgbClr val="F0F4F8"/>
                </a:solidFill>
              </a:defRPr>
            </a:pPr>
            <a:r>
              <a:t>MediaPipe Hands (max 2 tangan, det_conf=0.7) ➔ Ekstraksi 21 koordinat 3D. Koreksi Kritis: Label 'Left' dipetakan sebagai fisik 'Right'.</a:t>
            </a:r>
          </a:p>
        </p:txBody>
      </p:sp>
      <p:sp>
        <p:nvSpPr>
          <p:cNvPr id="5" name="Rounded Rectangle 4"/>
          <p:cNvSpPr/>
          <p:nvPr/>
        </p:nvSpPr>
        <p:spPr>
          <a:xfrm>
            <a:off x="548640" y="3291840"/>
            <a:ext cx="11064240" cy="8686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600" b="1">
                <a:solidFill>
                  <a:srgbClr val="B066FF"/>
                </a:solidFill>
                <a:latin typeface="Arial"/>
              </a:defRPr>
            </a:pPr>
            <a:r>
              <a:t>03. Normalisasi &amp; Klasifikasi Gestur (SVM Brain)</a:t>
            </a:r>
          </a:p>
          <a:p>
            <a:pPr>
              <a:defRPr sz="1350">
                <a:solidFill>
                  <a:srgbClr val="F0F4F8"/>
                </a:solidFill>
              </a:defRPr>
            </a:pPr>
            <a:r>
              <a:t>Gabungkan 63 koordinat Kiri + 63 Kanan = Vektor 126D (zero padding jika 1 tangan) ➔ StandardScaler ➔ Prediksi SVM rbf menghasilkan label [0-7].</a:t>
            </a:r>
          </a:p>
        </p:txBody>
      </p:sp>
      <p:sp>
        <p:nvSpPr>
          <p:cNvPr id="6" name="Rounded Rectangle 5"/>
          <p:cNvSpPr/>
          <p:nvPr/>
        </p:nvSpPr>
        <p:spPr>
          <a:xfrm>
            <a:off x="548640" y="4251960"/>
            <a:ext cx="11064240" cy="8686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600" b="1">
                <a:solidFill>
                  <a:srgbClr val="FFD700"/>
                </a:solidFill>
                <a:latin typeface="Arial"/>
              </a:defRPr>
            </a:pPr>
            <a:r>
              <a:t>04. Geometrical Rule Engine &amp; OS Action Execution</a:t>
            </a:r>
          </a:p>
          <a:p>
            <a:pPr>
              <a:defRPr sz="1350">
                <a:solidFill>
                  <a:srgbClr val="F0F4F8"/>
                </a:solidFill>
              </a:defRPr>
            </a:pPr>
            <a:r>
              <a:t>Kalkulasi jarak Euclidean 3D &amp; sudut atan2 pergelangan ➔ Eksekusi event OS (MouseMove EMA, Click/Drag, Scroll, Volume/Bright, Keywrite).</a:t>
            </a:r>
          </a:p>
        </p:txBody>
      </p:sp>
      <p:sp>
        <p:nvSpPr>
          <p:cNvPr id="7" name="Rounded Rectangle 6"/>
          <p:cNvSpPr/>
          <p:nvPr/>
        </p:nvSpPr>
        <p:spPr>
          <a:xfrm>
            <a:off x="548640" y="5212080"/>
            <a:ext cx="11064240" cy="8686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600" b="1">
                <a:solidFill>
                  <a:srgbClr val="FF6B6B"/>
                </a:solidFill>
                <a:latin typeface="Arial"/>
              </a:defRPr>
            </a:pPr>
            <a:r>
              <a:t>05. Non-Intrusive GUI &amp; Visual Feedback Rendering</a:t>
            </a:r>
          </a:p>
          <a:p>
            <a:pPr>
              <a:defRPr sz="1350">
                <a:solidFill>
                  <a:srgbClr val="F0F4F8"/>
                </a:solidFill>
              </a:defRPr>
            </a:pPr>
            <a:r>
              <a:t>Render status gestur, progress bar hover keyboard, &amp; bounding box di atas window transparan Win32 360×202 yang dipertahankan topmost.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Ekstraksi Fitur Spasial: Vektor 126 Dimensi</a:t>
            </a:r>
          </a:p>
        </p:txBody>
      </p:sp>
      <p:sp>
        <p:nvSpPr>
          <p:cNvPr id="3" name="Rounded Rectangle 2"/>
          <p:cNvSpPr/>
          <p:nvPr/>
        </p:nvSpPr>
        <p:spPr>
          <a:xfrm>
            <a:off x="54864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00D4FF"/>
                </a:solidFill>
                <a:latin typeface="Arial"/>
              </a:defRPr>
            </a:pPr>
            <a:r>
              <a:t>📐 21 Hand Landmarks 3D (MediaPipe)</a:t>
            </a:r>
          </a:p>
          <a:p>
            <a:br/>
            <a:pPr>
              <a:defRPr sz="1400">
                <a:solidFill>
                  <a:srgbClr val="F0F4F8"/>
                </a:solidFill>
              </a:defRPr>
            </a:pPr>
            <a:r>
              <a:t>• Anatomi Sendi Tangan:</a:t>
            </a:r>
            <a:br/>
            <a:r>
              <a:t>MediaPipe melokalisasi 21 titik kunci (Landmark 0 = Pergelangan tangan hingga Landmark 4, 8, 12, 16, 20 = Ujung jari jempol, telunjuk, tengah, manis, kelingking).</a:t>
            </a:r>
            <a:br/>
            <a:br/>
            <a:r>
              <a:t>• Koordinat Spasial Kontinu (X, Y, Z):</a:t>
            </a:r>
            <a:br/>
            <a:r>
              <a:t>- X dan Y dinormalisasi [0.0 – 1.0] terhadap lebar dan tinggi resolusi frame kamera.</a:t>
            </a:r>
            <a:br/>
            <a:r>
              <a:t>- Z merepresentasikan kedalaman relatif terhadap pergelangan (semakin negatif = semakin dekat ke lensa kamera).</a:t>
            </a:r>
          </a:p>
        </p:txBody>
      </p:sp>
      <p:sp>
        <p:nvSpPr>
          <p:cNvPr id="4" name="Rounded Rectangle 3"/>
          <p:cNvSpPr/>
          <p:nvPr/>
        </p:nvSpPr>
        <p:spPr>
          <a:xfrm>
            <a:off x="621792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00FF88"/>
                </a:solidFill>
                <a:latin typeface="Arial"/>
              </a:defRPr>
            </a:pPr>
            <a:r>
              <a:t>🔢 Konstruksi Vektor 126D &amp; Zero Padding</a:t>
            </a:r>
          </a:p>
          <a:p>
            <a:br/>
            <a:pPr>
              <a:defRPr sz="1400">
                <a:solidFill>
                  <a:srgbClr val="F0F4F8"/>
                </a:solidFill>
              </a:defRPr>
            </a:pPr>
            <a:r>
              <a:t>• Vektor Gabungan Konstan:</a:t>
            </a:r>
            <a:br/>
            <a:r>
              <a:t>Agar model SVM menerima input dengan dimensi tetap secara deterministik, vektor fitur digabungkan secara berurutan:</a:t>
            </a:r>
            <a:br/>
            <a:br/>
            <a:r>
              <a:t>[Fitur Tangan Kiri (63)] + [Fitur Tangan Kanan (63)] = 126 Dimensi</a:t>
            </a:r>
            <a:br/>
            <a:br/>
            <a:r>
              <a:t>• Zero-Padding untuk Single-Hand:</a:t>
            </a:r>
            <a:br/>
            <a:r>
              <a:t>Jika hanya 1 tangan yang terdeteksi di depan kamera, 63 atribut untuk tangan yang hilang akan diisi dengan angka nol (`[0.0] * 63`).</a:t>
            </a:r>
            <a:br/>
            <a:br/>
            <a:r>
              <a:t>⚠️ Catatan Reviewer: Padding nol ini membuat model sangat sensitif terhadap pola nol yang dapat terkorelasi dengan kelas tertentu.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AI Brain: Support Vector Machine (SVM)</a:t>
            </a:r>
          </a:p>
        </p:txBody>
      </p:sp>
      <p:sp>
        <p:nvSpPr>
          <p:cNvPr id="3" name="Rounded Rectangle 2"/>
          <p:cNvSpPr/>
          <p:nvPr/>
        </p:nvSpPr>
        <p:spPr>
          <a:xfrm>
            <a:off x="54864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B066FF"/>
                </a:solidFill>
                <a:latin typeface="Arial"/>
              </a:defRPr>
            </a:pPr>
            <a:r>
              <a:t>🛠️ Spesifikasi Pelatihan (`train_model.py`)</a:t>
            </a:r>
          </a:p>
          <a:p>
            <a:br/>
            <a:pPr>
              <a:defRPr sz="1400">
                <a:solidFill>
                  <a:srgbClr val="F0F4F8"/>
                </a:solidFill>
              </a:defRPr>
            </a:pPr>
            <a:r>
              <a:t>• Algoritma: Support Vector Classifier (SVC) dari Scikit-Learn.</a:t>
            </a:r>
            <a:br/>
            <a:r>
              <a:t>• Hyperparameters:</a:t>
            </a:r>
            <a:br/>
            <a:r>
              <a:t>  `kernel='rbf'`, `C=10`, `gamma='scale'`, `probability=True`.</a:t>
            </a:r>
            <a:br/>
            <a:r>
              <a:t>• Normalisasi Fitur:</a:t>
            </a:r>
            <a:br/>
            <a:r>
              <a:t>  `StandardScaler` dipasang (fit) hanya pada train set untuk menyamakan skala distribusi 126 koordinat.</a:t>
            </a:r>
            <a:br/>
            <a:r>
              <a:t>• Skema Stratified Split (80 : 10 : 10):</a:t>
            </a:r>
            <a:br/>
            <a:r>
              <a:t>  - 80% Training Set (~1.317 sampel) untuk pemodelan.</a:t>
            </a:r>
            <a:br/>
            <a:r>
              <a:t>  - 10% Validation Set (~165 sampel) untuk tuning.</a:t>
            </a:r>
            <a:br/>
            <a:r>
              <a:t>  - 10% Test Set (~165 sampel) untuk evaluasi akhir.</a:t>
            </a:r>
            <a:br/>
            <a:r>
              <a:t>• Output Model: Pickle object (`svm_gesture_model.pkl`) berisi tuple `(model, scaler)`.</a:t>
            </a:r>
          </a:p>
        </p:txBody>
      </p:sp>
      <p:sp>
        <p:nvSpPr>
          <p:cNvPr id="4" name="Rounded Rectangle 3"/>
          <p:cNvSpPr/>
          <p:nvPr/>
        </p:nvSpPr>
        <p:spPr>
          <a:xfrm>
            <a:off x="621792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FFD700"/>
                </a:solidFill>
                <a:latin typeface="Arial"/>
              </a:defRPr>
            </a:pPr>
            <a:r>
              <a:t>💡 Keunggulan SVM Vektor vs CNN Citra</a:t>
            </a:r>
          </a:p>
          <a:p>
            <a:br/>
            <a:pPr>
              <a:defRPr sz="1400">
                <a:solidFill>
                  <a:srgbClr val="F0F4F8"/>
                </a:solidFill>
              </a:defRPr>
            </a:pPr>
            <a:r>
              <a:t>• Mengapa Tidak Memakai CNN / ResNet 2D?</a:t>
            </a:r>
            <a:br/>
            <a:r>
              <a:t>1. Beban Komputasi: CNN membutuhkan GPU untuk inferensi 720p 30 FPS. SVM pada vektor 126D selesai dalam &lt; 5 ms di CPU biasa.</a:t>
            </a:r>
            <a:br/>
            <a:r>
              <a:t>2. Invariansi Lingkungan: Fitur vektor sudah bebas dari gangguan background, warna kulit, dan pencahayaan kamar karena disaring oleh MediaPipe terlebih dahulu.</a:t>
            </a:r>
            <a:br/>
            <a:r>
              <a:t>3. Ukuran Model: File `svm_gesture_model.pkl` hanya berukuran 460 KB, sangat ringan dan portabel dibandingkan model deep learning berukuran puluhan megabyte.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Spesifikasi 8 Klasifikasi Gestur (Part 1/2)</a:t>
            </a:r>
          </a:p>
        </p:txBody>
      </p:sp>
      <p:sp>
        <p:nvSpPr>
          <p:cNvPr id="3" name="Rounded Rectangle 2"/>
          <p:cNvSpPr/>
          <p:nvPr/>
        </p:nvSpPr>
        <p:spPr>
          <a:xfrm>
            <a:off x="548640"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00D4FF"/>
                </a:solidFill>
                <a:latin typeface="Arial"/>
              </a:defRPr>
            </a:pPr>
            <a:r>
              <a:t>Label 0: Move Mode</a:t>
            </a:r>
          </a:p>
          <a:p>
            <a:br/>
            <a:pPr>
              <a:defRPr sz="1400" b="1">
                <a:solidFill>
                  <a:srgbClr val="FFD700"/>
                </a:solidFill>
              </a:defRPr>
            </a:pPr>
            <a:r>
              <a:t>☝️ Telunjuk Lurus Kanan</a:t>
            </a:r>
          </a:p>
          <a:p>
            <a:br/>
            <a:pPr>
              <a:defRPr sz="1300">
                <a:solidFill>
                  <a:srgbClr val="F0F4F8"/>
                </a:solidFill>
              </a:defRPr>
            </a:pPr>
            <a:r>
              <a:t>Koordinat ujung telunjuk kanan (LM 8) dipetakan ke layar monitor via pyautogui.moveTo().</a:t>
            </a:r>
            <a:br/>
            <a:r>
              <a:t>Dilengkapi filter smoothing Exponential Moving Average (EMA α=0.25) untuk menghapus tremor kursor mouse.</a:t>
            </a:r>
          </a:p>
        </p:txBody>
      </p:sp>
      <p:sp>
        <p:nvSpPr>
          <p:cNvPr id="4" name="Rounded Rectangle 3"/>
          <p:cNvSpPr/>
          <p:nvPr/>
        </p:nvSpPr>
        <p:spPr>
          <a:xfrm>
            <a:off x="3337560"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00FF88"/>
                </a:solidFill>
                <a:latin typeface="Arial"/>
              </a:defRPr>
            </a:pPr>
            <a:r>
              <a:t>Label 1: Click &amp; Drag</a:t>
            </a:r>
          </a:p>
          <a:p>
            <a:br/>
            <a:pPr>
              <a:defRPr sz="1400" b="1">
                <a:solidFill>
                  <a:srgbClr val="FFD700"/>
                </a:solidFill>
              </a:defRPr>
            </a:pPr>
            <a:r>
              <a:t>🤏 Cubit Jempol-Telunjuk</a:t>
            </a:r>
          </a:p>
          <a:p>
            <a:br/>
            <a:pPr>
              <a:defRPr sz="1300">
                <a:solidFill>
                  <a:srgbClr val="F0F4F8"/>
                </a:solidFill>
              </a:defRPr>
            </a:pPr>
            <a:r>
              <a:t>Jarak Euclidean 3D LM 4 &amp; 8 &lt; 0.045.</a:t>
            </a:r>
            <a:br/>
            <a:r>
              <a:t>• &lt; 0.3s = Klik Kiri (cooldown 0.4s).</a:t>
            </a:r>
            <a:br/>
            <a:r>
              <a:t>• &gt; 0.3s = Hold-Drag (pyautogui.mouseDown).</a:t>
            </a:r>
            <a:br/>
            <a:r>
              <a:t>• Cubit Jari Tengah (LM 4 &amp; 12) = Klik Kanan.</a:t>
            </a:r>
          </a:p>
        </p:txBody>
      </p:sp>
      <p:sp>
        <p:nvSpPr>
          <p:cNvPr id="5" name="Rounded Rectangle 4"/>
          <p:cNvSpPr/>
          <p:nvPr/>
        </p:nvSpPr>
        <p:spPr>
          <a:xfrm>
            <a:off x="6126479"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FF6B6B"/>
                </a:solidFill>
                <a:latin typeface="Arial"/>
              </a:defRPr>
            </a:pPr>
            <a:r>
              <a:t>Label 2: C-Shape</a:t>
            </a:r>
          </a:p>
          <a:p>
            <a:br/>
            <a:pPr>
              <a:defRPr sz="1400" b="1">
                <a:solidFill>
                  <a:srgbClr val="FFD700"/>
                </a:solidFill>
              </a:defRPr>
            </a:pPr>
            <a:r>
              <a:t>✊ Rotasi Pergelangan</a:t>
            </a:r>
          </a:p>
          <a:p>
            <a:br/>
            <a:pPr>
              <a:defRPr sz="1300">
                <a:solidFill>
                  <a:srgbClr val="F0F4F8"/>
                </a:solidFill>
              </a:defRPr>
            </a:pPr>
            <a:r>
              <a:t>Kalkulasi rotasi sudut atan2 pergelangan tangan &gt; 0.08 rad (~4.6°).</a:t>
            </a:r>
            <a:br/>
            <a:r>
              <a:t>• Tangan Kanan = Volume Up/Down (pyautogui).</a:t>
            </a:r>
            <a:br/>
            <a:r>
              <a:t>• Tangan Kiri = Brightness (PowerShell WMI Async).</a:t>
            </a:r>
          </a:p>
        </p:txBody>
      </p:sp>
      <p:sp>
        <p:nvSpPr>
          <p:cNvPr id="6" name="Rounded Rectangle 5"/>
          <p:cNvSpPr/>
          <p:nvPr/>
        </p:nvSpPr>
        <p:spPr>
          <a:xfrm>
            <a:off x="8915399"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B066FF"/>
                </a:solidFill>
                <a:latin typeface="Arial"/>
              </a:defRPr>
            </a:pPr>
            <a:r>
              <a:t>Label 3: V-Sign Bimanual</a:t>
            </a:r>
          </a:p>
          <a:p>
            <a:br/>
            <a:pPr>
              <a:defRPr sz="1400" b="1">
                <a:solidFill>
                  <a:srgbClr val="FFD700"/>
                </a:solidFill>
              </a:defRPr>
            </a:pPr>
            <a:r>
              <a:t>✌️ Peace Ganda (Summon)</a:t>
            </a:r>
          </a:p>
          <a:p>
            <a:br/>
            <a:pPr>
              <a:defRPr sz="1300">
                <a:solidFill>
                  <a:srgbClr val="F0F4F8"/>
                </a:solidFill>
              </a:defRPr>
            </a:pPr>
            <a:r>
              <a:t>Kedua tangan membentuk V-Sign ditahan selama 2.0 detik untuk memunculkan/menyembunyikan Hologram Virtual Keyboard (30 keys QWERTY).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Spesifikasi 8 Klasifikasi Gestur (Part 2/2)</a:t>
            </a:r>
          </a:p>
        </p:txBody>
      </p:sp>
      <p:sp>
        <p:nvSpPr>
          <p:cNvPr id="3" name="Rounded Rectangle 2"/>
          <p:cNvSpPr/>
          <p:nvPr/>
        </p:nvSpPr>
        <p:spPr>
          <a:xfrm>
            <a:off x="548640"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FFD700"/>
                </a:solidFill>
                <a:latin typeface="Arial"/>
              </a:defRPr>
            </a:pPr>
            <a:r>
              <a:t>Label 4: Frame Kamera</a:t>
            </a:r>
          </a:p>
          <a:p>
            <a:br/>
            <a:pPr>
              <a:defRPr sz="1400" b="1">
                <a:solidFill>
                  <a:srgbClr val="FFD700"/>
                </a:solidFill>
              </a:defRPr>
            </a:pPr>
            <a:r>
              <a:t>🖼️ Bingkai Kotak Bimanual</a:t>
            </a:r>
          </a:p>
          <a:p>
            <a:br/>
            <a:pPr>
              <a:defRPr sz="1300">
                <a:solidFill>
                  <a:srgbClr val="F0F4F8"/>
                </a:solidFill>
              </a:defRPr>
            </a:pPr>
            <a:r>
              <a:t>Jempol &amp; telunjuk kedua tangan membentuk Bounding Box (min 20×20 px).</a:t>
            </a:r>
            <a:br/>
            <a:r>
              <a:t>Ditahan 1.5s countdown memicu tangkapan layar crop otomatis + shutter white flash di layar.</a:t>
            </a:r>
          </a:p>
        </p:txBody>
      </p:sp>
      <p:sp>
        <p:nvSpPr>
          <p:cNvPr id="4" name="Rounded Rectangle 3"/>
          <p:cNvSpPr/>
          <p:nvPr/>
        </p:nvSpPr>
        <p:spPr>
          <a:xfrm>
            <a:off x="3337560"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00D4FF"/>
                </a:solidFill>
                <a:latin typeface="Arial"/>
              </a:defRPr>
            </a:pPr>
            <a:r>
              <a:t>Label 5: Ninja Scroll</a:t>
            </a:r>
          </a:p>
          <a:p>
            <a:br/>
            <a:pPr>
              <a:defRPr sz="1400" b="1">
                <a:solidFill>
                  <a:srgbClr val="FFD700"/>
                </a:solidFill>
              </a:defRPr>
            </a:pPr>
            <a:r>
              <a:t>✌️ Dua Jari Lurus Ninja</a:t>
            </a:r>
          </a:p>
          <a:p>
            <a:br/>
            <a:pPr>
              <a:defRPr sz="1300">
                <a:solidFill>
                  <a:srgbClr val="F0F4F8"/>
                </a:solidFill>
              </a:defRPr>
            </a:pPr>
            <a:r>
              <a:t>Delta posisi jari tengah (LM 9).</a:t>
            </a:r>
            <a:br/>
            <a:r>
              <a:t>• Geser vertikal (&gt;0.015) memicu pyautogui.scroll(delta * 2500).</a:t>
            </a:r>
            <a:br/>
            <a:r>
              <a:t>• Geser horizontal memicu pyautogui.hscroll().</a:t>
            </a:r>
          </a:p>
        </p:txBody>
      </p:sp>
      <p:sp>
        <p:nvSpPr>
          <p:cNvPr id="5" name="Rounded Rectangle 4"/>
          <p:cNvSpPr/>
          <p:nvPr/>
        </p:nvSpPr>
        <p:spPr>
          <a:xfrm>
            <a:off x="6126479"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00FF88"/>
                </a:solidFill>
                <a:latin typeface="Arial"/>
              </a:defRPr>
            </a:pPr>
            <a:r>
              <a:t>Label 6: Swipe Tab</a:t>
            </a:r>
          </a:p>
          <a:p>
            <a:br/>
            <a:pPr>
              <a:defRPr sz="1400" b="1">
                <a:solidFill>
                  <a:srgbClr val="FFD700"/>
                </a:solidFill>
              </a:defRPr>
            </a:pPr>
            <a:r>
              <a:t>🖐️ Tangan Kertas Kiri</a:t>
            </a:r>
          </a:p>
          <a:p>
            <a:br/>
            <a:pPr>
              <a:defRPr sz="1300">
                <a:solidFill>
                  <a:srgbClr val="F0F4F8"/>
                </a:solidFill>
              </a:defRPr>
            </a:pPr>
            <a:r>
              <a:t>Eksklusif Tangan Kiri. Kalkulasi kecepatan geser (velocity = dx/dt).</a:t>
            </a:r>
            <a:br/>
            <a:r>
              <a:t>Kecepatan &gt; 1.3 dengan buffer 6 frame memicu Alt+Tab atau Alt+Shift+Tab (cooldown 1.2s).</a:t>
            </a:r>
          </a:p>
        </p:txBody>
      </p:sp>
      <p:sp>
        <p:nvSpPr>
          <p:cNvPr id="6" name="Rounded Rectangle 5"/>
          <p:cNvSpPr/>
          <p:nvPr/>
        </p:nvSpPr>
        <p:spPr>
          <a:xfrm>
            <a:off x="8915399" y="1463040"/>
            <a:ext cx="26060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FF6B6B"/>
                </a:solidFill>
                <a:latin typeface="Arial"/>
              </a:defRPr>
            </a:pPr>
            <a:r>
              <a:t>Label 7: Fist Standby</a:t>
            </a:r>
          </a:p>
          <a:p>
            <a:br/>
            <a:pPr>
              <a:defRPr sz="1400" b="1">
                <a:solidFill>
                  <a:srgbClr val="FFD700"/>
                </a:solidFill>
              </a:defRPr>
            </a:pPr>
            <a:r>
              <a:t>✊ Kepalan Tangan Kuat</a:t>
            </a:r>
          </a:p>
          <a:p>
            <a:br/>
            <a:pPr>
              <a:defRPr sz="1300">
                <a:solidFill>
                  <a:srgbClr val="F0F4F8"/>
                </a:solidFill>
              </a:defRPr>
            </a:pPr>
            <a:r>
              <a:t>Kepalan tangan ditahan statis selama 1.0 detik untuk mengunci sistem (Standby / Pause). Semua input mouse &amp; keyboard dibekukan, diganti overlay merah pengaman.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Audit Dataset Aktual (`dataset_bimanual.csv`)</a:t>
            </a:r>
          </a:p>
        </p:txBody>
      </p:sp>
      <p:graphicFrame>
        <p:nvGraphicFramePr>
          <p:cNvPr id="3" name="Table 2"/>
          <p:cNvGraphicFramePr>
            <a:graphicFrameLocks noGrp="1"/>
          </p:cNvGraphicFramePr>
          <p:nvPr/>
        </p:nvGraphicFramePr>
        <p:xfrm>
          <a:off x="548640" y="1463040"/>
          <a:ext cx="11064240" cy="4754880"/>
        </p:xfrm>
        <a:graphic>
          <a:graphicData uri="http://schemas.openxmlformats.org/drawingml/2006/table">
            <a:tbl>
              <a:tblPr firstRow="1" bandRow="1">
                <a:tableStyleId>{5C22544A-7EE6-4342-B048-85BDC9FD1C3A}</a:tableStyleId>
              </a:tblPr>
              <a:tblGrid>
                <a:gridCol w="914400"/>
                <a:gridCol w="3474720"/>
                <a:gridCol w="2011680"/>
                <a:gridCol w="2011680"/>
                <a:gridCol w="2651760"/>
              </a:tblGrid>
              <a:tr h="528320">
                <a:tc>
                  <a:txBody>
                    <a:bodyPr/>
                    <a:lstStyle/>
                    <a:p>
                      <a:pPr algn="ctr">
                        <a:defRPr sz="1300" b="1">
                          <a:solidFill>
                            <a:srgbClr val="00D4FF"/>
                          </a:solidFill>
                          <a:latin typeface="Arial"/>
                        </a:defRPr>
                      </a:pPr>
                      <a:r>
                        <a:t>Label</a:t>
                      </a:r>
                    </a:p>
                  </a:txBody>
                  <a:tcPr>
                    <a:solidFill>
                      <a:srgbClr val="16213E"/>
                    </a:solidFill>
                  </a:tcPr>
                </a:tc>
                <a:tc>
                  <a:txBody>
                    <a:bodyPr/>
                    <a:lstStyle/>
                    <a:p>
                      <a:pPr algn="ctr">
                        <a:defRPr sz="1300" b="1">
                          <a:solidFill>
                            <a:srgbClr val="00D4FF"/>
                          </a:solidFill>
                          <a:latin typeface="Arial"/>
                        </a:defRPr>
                      </a:pPr>
                      <a:r>
                        <a:t>Nama Kelas Gestur</a:t>
                      </a:r>
                    </a:p>
                  </a:txBody>
                  <a:tcPr>
                    <a:solidFill>
                      <a:srgbClr val="16213E"/>
                    </a:solidFill>
                  </a:tcPr>
                </a:tc>
                <a:tc>
                  <a:txBody>
                    <a:bodyPr/>
                    <a:lstStyle/>
                    <a:p>
                      <a:pPr algn="ctr">
                        <a:defRPr sz="1300" b="1">
                          <a:solidFill>
                            <a:srgbClr val="00D4FF"/>
                          </a:solidFill>
                          <a:latin typeface="Arial"/>
                        </a:defRPr>
                      </a:pPr>
                      <a:r>
                        <a:t>Jumlah Sampel</a:t>
                      </a:r>
                    </a:p>
                  </a:txBody>
                  <a:tcPr>
                    <a:solidFill>
                      <a:srgbClr val="16213E"/>
                    </a:solidFill>
                  </a:tcPr>
                </a:tc>
                <a:tc>
                  <a:txBody>
                    <a:bodyPr/>
                    <a:lstStyle/>
                    <a:p>
                      <a:pPr algn="ctr">
                        <a:defRPr sz="1300" b="1">
                          <a:solidFill>
                            <a:srgbClr val="00D4FF"/>
                          </a:solidFill>
                          <a:latin typeface="Arial"/>
                        </a:defRPr>
                      </a:pPr>
                      <a:r>
                        <a:t>Persentase (%)</a:t>
                      </a:r>
                    </a:p>
                  </a:txBody>
                  <a:tcPr>
                    <a:solidFill>
                      <a:srgbClr val="16213E"/>
                    </a:solidFill>
                  </a:tcPr>
                </a:tc>
                <a:tc>
                  <a:txBody>
                    <a:bodyPr/>
                    <a:lstStyle/>
                    <a:p>
                      <a:pPr algn="ctr">
                        <a:defRPr sz="1300" b="1">
                          <a:solidFill>
                            <a:srgbClr val="00D4FF"/>
                          </a:solidFill>
                          <a:latin typeface="Arial"/>
                        </a:defRPr>
                      </a:pPr>
                      <a:r>
                        <a:t>Rasio vs Minimum</a:t>
                      </a:r>
                    </a:p>
                  </a:txBody>
                  <a:tcPr>
                    <a:solidFill>
                      <a:srgbClr val="16213E"/>
                    </a:solidFill>
                  </a:tcPr>
                </a:tc>
              </a:tr>
              <a:tr h="528320">
                <a:tc>
                  <a:txBody>
                    <a:bodyPr/>
                    <a:lstStyle/>
                    <a:p>
                      <a:pPr algn="ctr">
                        <a:defRPr sz="1300">
                          <a:solidFill>
                            <a:srgbClr val="F0F4F8"/>
                          </a:solidFill>
                          <a:latin typeface="Arial"/>
                        </a:defRPr>
                      </a:pPr>
                      <a:r>
                        <a:t>0</a:t>
                      </a:r>
                    </a:p>
                  </a:txBody>
                  <a:tcPr>
                    <a:solidFill>
                      <a:srgbClr val="12162D"/>
                    </a:solidFill>
                  </a:tcPr>
                </a:tc>
                <a:tc>
                  <a:txBody>
                    <a:bodyPr/>
                    <a:lstStyle/>
                    <a:p>
                      <a:pPr>
                        <a:defRPr sz="1300">
                          <a:solidFill>
                            <a:srgbClr val="F0F4F8"/>
                          </a:solidFill>
                          <a:latin typeface="Arial"/>
                        </a:defRPr>
                      </a:pPr>
                      <a:r>
                        <a:t>Telunjuk Lurus (Move)</a:t>
                      </a:r>
                    </a:p>
                  </a:txBody>
                  <a:tcPr>
                    <a:solidFill>
                      <a:srgbClr val="12162D"/>
                    </a:solidFill>
                  </a:tcPr>
                </a:tc>
                <a:tc>
                  <a:txBody>
                    <a:bodyPr/>
                    <a:lstStyle/>
                    <a:p>
                      <a:pPr algn="ctr">
                        <a:defRPr sz="1300">
                          <a:solidFill>
                            <a:srgbClr val="F0F4F8"/>
                          </a:solidFill>
                          <a:latin typeface="Arial"/>
                        </a:defRPr>
                      </a:pPr>
                      <a:r>
                        <a:t>154</a:t>
                      </a:r>
                    </a:p>
                  </a:txBody>
                  <a:tcPr>
                    <a:solidFill>
                      <a:srgbClr val="12162D"/>
                    </a:solidFill>
                  </a:tcPr>
                </a:tc>
                <a:tc>
                  <a:txBody>
                    <a:bodyPr/>
                    <a:lstStyle/>
                    <a:p>
                      <a:pPr algn="ctr">
                        <a:defRPr sz="1300">
                          <a:solidFill>
                            <a:srgbClr val="F0F4F8"/>
                          </a:solidFill>
                          <a:latin typeface="Arial"/>
                        </a:defRPr>
                      </a:pPr>
                      <a:r>
                        <a:t>9,4%</a:t>
                      </a:r>
                    </a:p>
                  </a:txBody>
                  <a:tcPr>
                    <a:solidFill>
                      <a:srgbClr val="12162D"/>
                    </a:solidFill>
                  </a:tcPr>
                </a:tc>
                <a:tc>
                  <a:txBody>
                    <a:bodyPr/>
                    <a:lstStyle/>
                    <a:p>
                      <a:pPr algn="ctr">
                        <a:defRPr sz="1300">
                          <a:solidFill>
                            <a:srgbClr val="F0F4F8"/>
                          </a:solidFill>
                          <a:latin typeface="Arial"/>
                        </a:defRPr>
                      </a:pPr>
                      <a:r>
                        <a:t>1,29 ×</a:t>
                      </a:r>
                    </a:p>
                  </a:txBody>
                  <a:tcPr>
                    <a:solidFill>
                      <a:srgbClr val="12162D"/>
                    </a:solidFill>
                  </a:tcPr>
                </a:tc>
              </a:tr>
              <a:tr h="528320">
                <a:tc>
                  <a:txBody>
                    <a:bodyPr/>
                    <a:lstStyle/>
                    <a:p>
                      <a:pPr algn="ctr">
                        <a:defRPr sz="1300">
                          <a:solidFill>
                            <a:srgbClr val="F0F4F8"/>
                          </a:solidFill>
                          <a:latin typeface="Arial"/>
                        </a:defRPr>
                      </a:pPr>
                      <a:r>
                        <a:t>1</a:t>
                      </a:r>
                    </a:p>
                  </a:txBody>
                  <a:tcPr>
                    <a:solidFill>
                      <a:srgbClr val="1C2241"/>
                    </a:solidFill>
                  </a:tcPr>
                </a:tc>
                <a:tc>
                  <a:txBody>
                    <a:bodyPr/>
                    <a:lstStyle/>
                    <a:p>
                      <a:pPr>
                        <a:defRPr sz="1300">
                          <a:solidFill>
                            <a:srgbClr val="F0F4F8"/>
                          </a:solidFill>
                          <a:latin typeface="Arial"/>
                        </a:defRPr>
                      </a:pPr>
                      <a:r>
                        <a:t>Cubit / Pinch (Click &amp; Drag)</a:t>
                      </a:r>
                    </a:p>
                  </a:txBody>
                  <a:tcPr>
                    <a:solidFill>
                      <a:srgbClr val="1C2241"/>
                    </a:solidFill>
                  </a:tcPr>
                </a:tc>
                <a:tc>
                  <a:txBody>
                    <a:bodyPr/>
                    <a:lstStyle/>
                    <a:p>
                      <a:pPr algn="ctr">
                        <a:defRPr sz="1300">
                          <a:solidFill>
                            <a:srgbClr val="F0F4F8"/>
                          </a:solidFill>
                          <a:latin typeface="Arial"/>
                        </a:defRPr>
                      </a:pPr>
                      <a:r>
                        <a:t>525</a:t>
                      </a:r>
                    </a:p>
                  </a:txBody>
                  <a:tcPr>
                    <a:solidFill>
                      <a:srgbClr val="1C2241"/>
                    </a:solidFill>
                  </a:tcPr>
                </a:tc>
                <a:tc>
                  <a:txBody>
                    <a:bodyPr/>
                    <a:lstStyle/>
                    <a:p>
                      <a:pPr algn="ctr">
                        <a:defRPr sz="1300">
                          <a:solidFill>
                            <a:srgbClr val="F0F4F8"/>
                          </a:solidFill>
                          <a:latin typeface="Arial"/>
                        </a:defRPr>
                      </a:pPr>
                      <a:r>
                        <a:t>31,9%</a:t>
                      </a:r>
                    </a:p>
                  </a:txBody>
                  <a:tcPr>
                    <a:solidFill>
                      <a:srgbClr val="1C2241"/>
                    </a:solidFill>
                  </a:tcPr>
                </a:tc>
                <a:tc>
                  <a:txBody>
                    <a:bodyPr/>
                    <a:lstStyle/>
                    <a:p>
                      <a:pPr algn="ctr">
                        <a:defRPr sz="1300" b="1">
                          <a:solidFill>
                            <a:srgbClr val="FF6B6B"/>
                          </a:solidFill>
                          <a:latin typeface="Arial"/>
                        </a:defRPr>
                      </a:pPr>
                      <a:r>
                        <a:t>4,41 × (Dominan)</a:t>
                      </a:r>
                    </a:p>
                  </a:txBody>
                  <a:tcPr>
                    <a:solidFill>
                      <a:srgbClr val="1C2241"/>
                    </a:solidFill>
                  </a:tcPr>
                </a:tc>
              </a:tr>
              <a:tr h="528320">
                <a:tc>
                  <a:txBody>
                    <a:bodyPr/>
                    <a:lstStyle/>
                    <a:p>
                      <a:pPr algn="ctr">
                        <a:defRPr sz="1300">
                          <a:solidFill>
                            <a:srgbClr val="F0F4F8"/>
                          </a:solidFill>
                          <a:latin typeface="Arial"/>
                        </a:defRPr>
                      </a:pPr>
                      <a:r>
                        <a:t>2</a:t>
                      </a:r>
                    </a:p>
                  </a:txBody>
                  <a:tcPr>
                    <a:solidFill>
                      <a:srgbClr val="12162D"/>
                    </a:solidFill>
                  </a:tcPr>
                </a:tc>
                <a:tc>
                  <a:txBody>
                    <a:bodyPr/>
                    <a:lstStyle/>
                    <a:p>
                      <a:pPr>
                        <a:defRPr sz="1300">
                          <a:solidFill>
                            <a:srgbClr val="F0F4F8"/>
                          </a:solidFill>
                          <a:latin typeface="Arial"/>
                        </a:defRPr>
                      </a:pPr>
                      <a:r>
                        <a:t>C-Shape (Volume/Brightness)</a:t>
                      </a:r>
                    </a:p>
                  </a:txBody>
                  <a:tcPr>
                    <a:solidFill>
                      <a:srgbClr val="12162D"/>
                    </a:solidFill>
                  </a:tcPr>
                </a:tc>
                <a:tc>
                  <a:txBody>
                    <a:bodyPr/>
                    <a:lstStyle/>
                    <a:p>
                      <a:pPr algn="ctr">
                        <a:defRPr sz="1300">
                          <a:solidFill>
                            <a:srgbClr val="F0F4F8"/>
                          </a:solidFill>
                          <a:latin typeface="Arial"/>
                        </a:defRPr>
                      </a:pPr>
                      <a:r>
                        <a:t>184</a:t>
                      </a:r>
                    </a:p>
                  </a:txBody>
                  <a:tcPr>
                    <a:solidFill>
                      <a:srgbClr val="12162D"/>
                    </a:solidFill>
                  </a:tcPr>
                </a:tc>
                <a:tc>
                  <a:txBody>
                    <a:bodyPr/>
                    <a:lstStyle/>
                    <a:p>
                      <a:pPr algn="ctr">
                        <a:defRPr sz="1300">
                          <a:solidFill>
                            <a:srgbClr val="F0F4F8"/>
                          </a:solidFill>
                          <a:latin typeface="Arial"/>
                        </a:defRPr>
                      </a:pPr>
                      <a:r>
                        <a:t>11,2%</a:t>
                      </a:r>
                    </a:p>
                  </a:txBody>
                  <a:tcPr>
                    <a:solidFill>
                      <a:srgbClr val="12162D"/>
                    </a:solidFill>
                  </a:tcPr>
                </a:tc>
                <a:tc>
                  <a:txBody>
                    <a:bodyPr/>
                    <a:lstStyle/>
                    <a:p>
                      <a:pPr algn="ctr">
                        <a:defRPr sz="1300">
                          <a:solidFill>
                            <a:srgbClr val="F0F4F8"/>
                          </a:solidFill>
                          <a:latin typeface="Arial"/>
                        </a:defRPr>
                      </a:pPr>
                      <a:r>
                        <a:t>1,55 ×</a:t>
                      </a:r>
                    </a:p>
                  </a:txBody>
                  <a:tcPr>
                    <a:solidFill>
                      <a:srgbClr val="12162D"/>
                    </a:solidFill>
                  </a:tcPr>
                </a:tc>
              </a:tr>
              <a:tr h="528320">
                <a:tc>
                  <a:txBody>
                    <a:bodyPr/>
                    <a:lstStyle/>
                    <a:p>
                      <a:pPr algn="ctr">
                        <a:defRPr sz="1300">
                          <a:solidFill>
                            <a:srgbClr val="F0F4F8"/>
                          </a:solidFill>
                          <a:latin typeface="Arial"/>
                        </a:defRPr>
                      </a:pPr>
                      <a:r>
                        <a:t>3</a:t>
                      </a:r>
                    </a:p>
                  </a:txBody>
                  <a:tcPr>
                    <a:solidFill>
                      <a:srgbClr val="1C2241"/>
                    </a:solidFill>
                  </a:tcPr>
                </a:tc>
                <a:tc>
                  <a:txBody>
                    <a:bodyPr/>
                    <a:lstStyle/>
                    <a:p>
                      <a:pPr>
                        <a:defRPr sz="1300">
                          <a:solidFill>
                            <a:srgbClr val="F0F4F8"/>
                          </a:solidFill>
                          <a:latin typeface="Arial"/>
                        </a:defRPr>
                      </a:pPr>
                      <a:r>
                        <a:t>Peace / V-Sign (Keyboard)</a:t>
                      </a:r>
                    </a:p>
                  </a:txBody>
                  <a:tcPr>
                    <a:solidFill>
                      <a:srgbClr val="1C2241"/>
                    </a:solidFill>
                  </a:tcPr>
                </a:tc>
                <a:tc>
                  <a:txBody>
                    <a:bodyPr/>
                    <a:lstStyle/>
                    <a:p>
                      <a:pPr algn="ctr">
                        <a:defRPr sz="1300">
                          <a:solidFill>
                            <a:srgbClr val="F0F4F8"/>
                          </a:solidFill>
                          <a:latin typeface="Arial"/>
                        </a:defRPr>
                      </a:pPr>
                      <a:r>
                        <a:t>144</a:t>
                      </a:r>
                    </a:p>
                  </a:txBody>
                  <a:tcPr>
                    <a:solidFill>
                      <a:srgbClr val="1C2241"/>
                    </a:solidFill>
                  </a:tcPr>
                </a:tc>
                <a:tc>
                  <a:txBody>
                    <a:bodyPr/>
                    <a:lstStyle/>
                    <a:p>
                      <a:pPr algn="ctr">
                        <a:defRPr sz="1300">
                          <a:solidFill>
                            <a:srgbClr val="F0F4F8"/>
                          </a:solidFill>
                          <a:latin typeface="Arial"/>
                        </a:defRPr>
                      </a:pPr>
                      <a:r>
                        <a:t>8,7%</a:t>
                      </a:r>
                    </a:p>
                  </a:txBody>
                  <a:tcPr>
                    <a:solidFill>
                      <a:srgbClr val="1C2241"/>
                    </a:solidFill>
                  </a:tcPr>
                </a:tc>
                <a:tc>
                  <a:txBody>
                    <a:bodyPr/>
                    <a:lstStyle/>
                    <a:p>
                      <a:pPr algn="ctr">
                        <a:defRPr sz="1300">
                          <a:solidFill>
                            <a:srgbClr val="F0F4F8"/>
                          </a:solidFill>
                          <a:latin typeface="Arial"/>
                        </a:defRPr>
                      </a:pPr>
                      <a:r>
                        <a:t>1,21 ×</a:t>
                      </a:r>
                    </a:p>
                  </a:txBody>
                  <a:tcPr>
                    <a:solidFill>
                      <a:srgbClr val="1C2241"/>
                    </a:solidFill>
                  </a:tcPr>
                </a:tc>
              </a:tr>
              <a:tr h="528320">
                <a:tc>
                  <a:txBody>
                    <a:bodyPr/>
                    <a:lstStyle/>
                    <a:p>
                      <a:pPr algn="ctr">
                        <a:defRPr sz="1300">
                          <a:solidFill>
                            <a:srgbClr val="F0F4F8"/>
                          </a:solidFill>
                          <a:latin typeface="Arial"/>
                        </a:defRPr>
                      </a:pPr>
                      <a:r>
                        <a:t>4</a:t>
                      </a:r>
                    </a:p>
                  </a:txBody>
                  <a:tcPr>
                    <a:solidFill>
                      <a:srgbClr val="12162D"/>
                    </a:solidFill>
                  </a:tcPr>
                </a:tc>
                <a:tc>
                  <a:txBody>
                    <a:bodyPr/>
                    <a:lstStyle/>
                    <a:p>
                      <a:pPr>
                        <a:defRPr sz="1300">
                          <a:solidFill>
                            <a:srgbClr val="F0F4F8"/>
                          </a:solidFill>
                          <a:latin typeface="Arial"/>
                        </a:defRPr>
                      </a:pPr>
                      <a:r>
                        <a:t>Frame Kamera (Screenshot)</a:t>
                      </a:r>
                    </a:p>
                  </a:txBody>
                  <a:tcPr>
                    <a:solidFill>
                      <a:srgbClr val="12162D"/>
                    </a:solidFill>
                  </a:tcPr>
                </a:tc>
                <a:tc>
                  <a:txBody>
                    <a:bodyPr/>
                    <a:lstStyle/>
                    <a:p>
                      <a:pPr algn="ctr">
                        <a:defRPr sz="1300">
                          <a:solidFill>
                            <a:srgbClr val="F0F4F8"/>
                          </a:solidFill>
                          <a:latin typeface="Arial"/>
                        </a:defRPr>
                      </a:pPr>
                      <a:r>
                        <a:t>154</a:t>
                      </a:r>
                    </a:p>
                  </a:txBody>
                  <a:tcPr>
                    <a:solidFill>
                      <a:srgbClr val="12162D"/>
                    </a:solidFill>
                  </a:tcPr>
                </a:tc>
                <a:tc>
                  <a:txBody>
                    <a:bodyPr/>
                    <a:lstStyle/>
                    <a:p>
                      <a:pPr algn="ctr">
                        <a:defRPr sz="1300">
                          <a:solidFill>
                            <a:srgbClr val="F0F4F8"/>
                          </a:solidFill>
                          <a:latin typeface="Arial"/>
                        </a:defRPr>
                      </a:pPr>
                      <a:r>
                        <a:t>9,4%</a:t>
                      </a:r>
                    </a:p>
                  </a:txBody>
                  <a:tcPr>
                    <a:solidFill>
                      <a:srgbClr val="12162D"/>
                    </a:solidFill>
                  </a:tcPr>
                </a:tc>
                <a:tc>
                  <a:txBody>
                    <a:bodyPr/>
                    <a:lstStyle/>
                    <a:p>
                      <a:pPr algn="ctr">
                        <a:defRPr sz="1300">
                          <a:solidFill>
                            <a:srgbClr val="F0F4F8"/>
                          </a:solidFill>
                          <a:latin typeface="Arial"/>
                        </a:defRPr>
                      </a:pPr>
                      <a:r>
                        <a:t>1,29 ×</a:t>
                      </a:r>
                    </a:p>
                  </a:txBody>
                  <a:tcPr>
                    <a:solidFill>
                      <a:srgbClr val="12162D"/>
                    </a:solidFill>
                  </a:tcPr>
                </a:tc>
              </a:tr>
              <a:tr h="528320">
                <a:tc>
                  <a:txBody>
                    <a:bodyPr/>
                    <a:lstStyle/>
                    <a:p>
                      <a:pPr algn="ctr">
                        <a:defRPr sz="1300">
                          <a:solidFill>
                            <a:srgbClr val="F0F4F8"/>
                          </a:solidFill>
                          <a:latin typeface="Arial"/>
                        </a:defRPr>
                      </a:pPr>
                      <a:r>
                        <a:t>5</a:t>
                      </a:r>
                    </a:p>
                  </a:txBody>
                  <a:tcPr>
                    <a:solidFill>
                      <a:srgbClr val="1C2241"/>
                    </a:solidFill>
                  </a:tcPr>
                </a:tc>
                <a:tc>
                  <a:txBody>
                    <a:bodyPr/>
                    <a:lstStyle/>
                    <a:p>
                      <a:pPr>
                        <a:defRPr sz="1300">
                          <a:solidFill>
                            <a:srgbClr val="F0F4F8"/>
                          </a:solidFill>
                          <a:latin typeface="Arial"/>
                        </a:defRPr>
                      </a:pPr>
                      <a:r>
                        <a:t>Dua Jari Ninja (Scroll)</a:t>
                      </a:r>
                    </a:p>
                  </a:txBody>
                  <a:tcPr>
                    <a:solidFill>
                      <a:srgbClr val="1C2241"/>
                    </a:solidFill>
                  </a:tcPr>
                </a:tc>
                <a:tc>
                  <a:txBody>
                    <a:bodyPr/>
                    <a:lstStyle/>
                    <a:p>
                      <a:pPr algn="ctr">
                        <a:defRPr sz="1300">
                          <a:solidFill>
                            <a:srgbClr val="F0F4F8"/>
                          </a:solidFill>
                          <a:latin typeface="Arial"/>
                        </a:defRPr>
                      </a:pPr>
                      <a:r>
                        <a:t>131</a:t>
                      </a:r>
                    </a:p>
                  </a:txBody>
                  <a:tcPr>
                    <a:solidFill>
                      <a:srgbClr val="1C2241"/>
                    </a:solidFill>
                  </a:tcPr>
                </a:tc>
                <a:tc>
                  <a:txBody>
                    <a:bodyPr/>
                    <a:lstStyle/>
                    <a:p>
                      <a:pPr algn="ctr">
                        <a:defRPr sz="1300">
                          <a:solidFill>
                            <a:srgbClr val="F0F4F8"/>
                          </a:solidFill>
                          <a:latin typeface="Arial"/>
                        </a:defRPr>
                      </a:pPr>
                      <a:r>
                        <a:t>8,0%</a:t>
                      </a:r>
                    </a:p>
                  </a:txBody>
                  <a:tcPr>
                    <a:solidFill>
                      <a:srgbClr val="1C2241"/>
                    </a:solidFill>
                  </a:tcPr>
                </a:tc>
                <a:tc>
                  <a:txBody>
                    <a:bodyPr/>
                    <a:lstStyle/>
                    <a:p>
                      <a:pPr algn="ctr">
                        <a:defRPr sz="1300">
                          <a:solidFill>
                            <a:srgbClr val="F0F4F8"/>
                          </a:solidFill>
                          <a:latin typeface="Arial"/>
                        </a:defRPr>
                      </a:pPr>
                      <a:r>
                        <a:t>1,10 ×</a:t>
                      </a:r>
                    </a:p>
                  </a:txBody>
                  <a:tcPr>
                    <a:solidFill>
                      <a:srgbClr val="1C2241"/>
                    </a:solidFill>
                  </a:tcPr>
                </a:tc>
              </a:tr>
              <a:tr h="528320">
                <a:tc>
                  <a:txBody>
                    <a:bodyPr/>
                    <a:lstStyle/>
                    <a:p>
                      <a:pPr algn="ctr">
                        <a:defRPr sz="1300">
                          <a:solidFill>
                            <a:srgbClr val="F0F4F8"/>
                          </a:solidFill>
                          <a:latin typeface="Arial"/>
                        </a:defRPr>
                      </a:pPr>
                      <a:r>
                        <a:t>6</a:t>
                      </a:r>
                    </a:p>
                  </a:txBody>
                  <a:tcPr>
                    <a:solidFill>
                      <a:srgbClr val="12162D"/>
                    </a:solidFill>
                  </a:tcPr>
                </a:tc>
                <a:tc>
                  <a:txBody>
                    <a:bodyPr/>
                    <a:lstStyle/>
                    <a:p>
                      <a:pPr>
                        <a:defRPr sz="1300">
                          <a:solidFill>
                            <a:srgbClr val="F0F4F8"/>
                          </a:solidFill>
                          <a:latin typeface="Arial"/>
                        </a:defRPr>
                      </a:pPr>
                      <a:r>
                        <a:t>Tangan Kertas (Swipe Tab)</a:t>
                      </a:r>
                    </a:p>
                  </a:txBody>
                  <a:tcPr>
                    <a:solidFill>
                      <a:srgbClr val="12162D"/>
                    </a:solidFill>
                  </a:tcPr>
                </a:tc>
                <a:tc>
                  <a:txBody>
                    <a:bodyPr/>
                    <a:lstStyle/>
                    <a:p>
                      <a:pPr algn="ctr">
                        <a:defRPr sz="1300">
                          <a:solidFill>
                            <a:srgbClr val="F0F4F8"/>
                          </a:solidFill>
                          <a:latin typeface="Arial"/>
                        </a:defRPr>
                      </a:pPr>
                      <a:r>
                        <a:t>119</a:t>
                      </a:r>
                    </a:p>
                  </a:txBody>
                  <a:tcPr>
                    <a:solidFill>
                      <a:srgbClr val="12162D"/>
                    </a:solidFill>
                  </a:tcPr>
                </a:tc>
                <a:tc>
                  <a:txBody>
                    <a:bodyPr/>
                    <a:lstStyle/>
                    <a:p>
                      <a:pPr algn="ctr">
                        <a:defRPr sz="1300">
                          <a:solidFill>
                            <a:srgbClr val="F0F4F8"/>
                          </a:solidFill>
                          <a:latin typeface="Arial"/>
                        </a:defRPr>
                      </a:pPr>
                      <a:r>
                        <a:t>7,2%</a:t>
                      </a:r>
                    </a:p>
                  </a:txBody>
                  <a:tcPr>
                    <a:solidFill>
                      <a:srgbClr val="12162D"/>
                    </a:solidFill>
                  </a:tcPr>
                </a:tc>
                <a:tc>
                  <a:txBody>
                    <a:bodyPr/>
                    <a:lstStyle/>
                    <a:p>
                      <a:pPr algn="ctr">
                        <a:defRPr sz="1300">
                          <a:solidFill>
                            <a:srgbClr val="F0F4F8"/>
                          </a:solidFill>
                          <a:latin typeface="Arial"/>
                        </a:defRPr>
                      </a:pPr>
                      <a:r>
                        <a:t>1,00 × (Minimum)</a:t>
                      </a:r>
                    </a:p>
                  </a:txBody>
                  <a:tcPr>
                    <a:solidFill>
                      <a:srgbClr val="12162D"/>
                    </a:solidFill>
                  </a:tcPr>
                </a:tc>
              </a:tr>
              <a:tr h="528320">
                <a:tc>
                  <a:txBody>
                    <a:bodyPr/>
                    <a:lstStyle/>
                    <a:p>
                      <a:pPr algn="ctr">
                        <a:defRPr sz="1300">
                          <a:solidFill>
                            <a:srgbClr val="F0F4F8"/>
                          </a:solidFill>
                          <a:latin typeface="Arial"/>
                        </a:defRPr>
                      </a:pPr>
                      <a:r>
                        <a:t>7</a:t>
                      </a:r>
                    </a:p>
                  </a:txBody>
                  <a:tcPr>
                    <a:solidFill>
                      <a:srgbClr val="1C2241"/>
                    </a:solidFill>
                  </a:tcPr>
                </a:tc>
                <a:tc>
                  <a:txBody>
                    <a:bodyPr/>
                    <a:lstStyle/>
                    <a:p>
                      <a:pPr>
                        <a:defRPr sz="1300">
                          <a:solidFill>
                            <a:srgbClr val="F0F4F8"/>
                          </a:solidFill>
                          <a:latin typeface="Arial"/>
                        </a:defRPr>
                      </a:pPr>
                      <a:r>
                        <a:t>Mengepal / Fist (Standby)</a:t>
                      </a:r>
                    </a:p>
                  </a:txBody>
                  <a:tcPr>
                    <a:solidFill>
                      <a:srgbClr val="1C2241"/>
                    </a:solidFill>
                  </a:tcPr>
                </a:tc>
                <a:tc>
                  <a:txBody>
                    <a:bodyPr/>
                    <a:lstStyle/>
                    <a:p>
                      <a:pPr algn="ctr">
                        <a:defRPr sz="1300">
                          <a:solidFill>
                            <a:srgbClr val="F0F4F8"/>
                          </a:solidFill>
                          <a:latin typeface="Arial"/>
                        </a:defRPr>
                      </a:pPr>
                      <a:r>
                        <a:t>236</a:t>
                      </a:r>
                    </a:p>
                  </a:txBody>
                  <a:tcPr>
                    <a:solidFill>
                      <a:srgbClr val="1C2241"/>
                    </a:solidFill>
                  </a:tcPr>
                </a:tc>
                <a:tc>
                  <a:txBody>
                    <a:bodyPr/>
                    <a:lstStyle/>
                    <a:p>
                      <a:pPr algn="ctr">
                        <a:defRPr sz="1300">
                          <a:solidFill>
                            <a:srgbClr val="F0F4F8"/>
                          </a:solidFill>
                          <a:latin typeface="Arial"/>
                        </a:defRPr>
                      </a:pPr>
                      <a:r>
                        <a:t>14,3%</a:t>
                      </a:r>
                    </a:p>
                  </a:txBody>
                  <a:tcPr>
                    <a:solidFill>
                      <a:srgbClr val="1C2241"/>
                    </a:solidFill>
                  </a:tcPr>
                </a:tc>
                <a:tc>
                  <a:txBody>
                    <a:bodyPr/>
                    <a:lstStyle/>
                    <a:p>
                      <a:pPr algn="ctr">
                        <a:defRPr sz="1300">
                          <a:solidFill>
                            <a:srgbClr val="F0F4F8"/>
                          </a:solidFill>
                          <a:latin typeface="Arial"/>
                        </a:defRPr>
                      </a:pPr>
                      <a:r>
                        <a:t>1,98 ×</a:t>
                      </a:r>
                    </a:p>
                  </a:txBody>
                  <a:tcPr>
                    <a:solidFill>
                      <a:srgbClr val="1C2241"/>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Analisis Lateralitas &amp; Temuan Imbalance</a:t>
            </a:r>
          </a:p>
        </p:txBody>
      </p:sp>
      <p:sp>
        <p:nvSpPr>
          <p:cNvPr id="3" name="Rounded Rectangle 2"/>
          <p:cNvSpPr/>
          <p:nvPr/>
        </p:nvSpPr>
        <p:spPr>
          <a:xfrm>
            <a:off x="54864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00D4FF"/>
                </a:solidFill>
                <a:latin typeface="Arial"/>
              </a:defRPr>
            </a:pPr>
            <a:r>
              <a:t>📈 Breakdown Lateralitas (1.647 Sampel)</a:t>
            </a:r>
          </a:p>
          <a:p>
            <a:br/>
            <a:pPr>
              <a:defRPr sz="1400">
                <a:solidFill>
                  <a:srgbClr val="F0F4F8"/>
                </a:solidFill>
              </a:defRPr>
            </a:pPr>
            <a:r>
              <a:t>• Hanya Tangan Kanan Aktif (Left = 0):</a:t>
            </a:r>
            <a:br/>
            <a:r>
              <a:t>  658 Sampel (40,0%)</a:t>
            </a:r>
            <a:br/>
            <a:br/>
            <a:r>
              <a:t>• Hanya Tangan Kiri Aktif (Right = 0):</a:t>
            </a:r>
            <a:br/>
            <a:r>
              <a:t>  698 Sampel (42,4%)</a:t>
            </a:r>
            <a:br/>
            <a:br/>
            <a:r>
              <a:t>• Kedua Tangan Aktif (Bimanual Simultan):</a:t>
            </a:r>
            <a:br/>
            <a:r>
              <a:t>  291 Sampel (17,7%)</a:t>
            </a:r>
            <a:br/>
            <a:br/>
            <a:r>
              <a:t>• Temuan Reviewer:</a:t>
            </a:r>
            <a:br/>
            <a:r>
              <a:t>Dominasi sampel single-hand (82,4%) menunjukkan bahwa dataset direkam dalam kondisi satu tangan. Ketika pengguna melakukan gerakan bimanual rumit, generalisasi model berpotensi terdegradasi karena kurangnya variasi sampel dua tangan simultan.</a:t>
            </a:r>
          </a:p>
        </p:txBody>
      </p:sp>
      <p:sp>
        <p:nvSpPr>
          <p:cNvPr id="4" name="Rounded Rectangle 3"/>
          <p:cNvSpPr/>
          <p:nvPr/>
        </p:nvSpPr>
        <p:spPr>
          <a:xfrm>
            <a:off x="621792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FF6B6B"/>
                </a:solidFill>
                <a:latin typeface="Arial"/>
              </a:defRPr>
            </a:pPr>
            <a:r>
              <a:t>⚠️ Kritis: Ketidakseimbangan Rasio 4,41 : 1</a:t>
            </a:r>
          </a:p>
          <a:p>
            <a:br/>
            <a:pPr>
              <a:defRPr sz="1400">
                <a:solidFill>
                  <a:srgbClr val="F0F4F8"/>
                </a:solidFill>
              </a:defRPr>
            </a:pPr>
            <a:r>
              <a:t>• Dominasi Kelas Click/Drag (Label 1):</a:t>
            </a:r>
            <a:br/>
            <a:r>
              <a:t>Label 1 berjumlah 525 sampel (31,9%), sedangkan Label 6 (Swipe Tab) hanya 119 sampel (7,2%).</a:t>
            </a:r>
            <a:br/>
            <a:br/>
            <a:r>
              <a:t>• Implikasi Teknis Terhadap Model:</a:t>
            </a:r>
            <a:br/>
            <a:r>
              <a:t>1. Bias Prediksi: SVM akan cenderung memprediksi kelas dominan (Label 1) pada posisi tangan yang ambigu/transisi.</a:t>
            </a:r>
            <a:br/>
            <a:r>
              <a:t>2. Angka Recall Rendah: Kelas minoritas berisiko tinggi mengalami false negative (gagal terdeteksi saat operasional).</a:t>
            </a:r>
            <a:br/>
            <a:br/>
            <a:r>
              <a:t>• Rekomendasi Solusi:</a:t>
            </a:r>
            <a:br/>
            <a:r>
              <a:t>Wajib menambahkan parameter `class_weight='balanced'` pada SVC atau melakukan augmentasi data SMOTE.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Mekanisme Hologram Virtual Keyboard</a:t>
            </a:r>
          </a:p>
        </p:txBody>
      </p:sp>
      <p:sp>
        <p:nvSpPr>
          <p:cNvPr id="3" name="Rounded Rectangle 2"/>
          <p:cNvSpPr/>
          <p:nvPr/>
        </p:nvSpPr>
        <p:spPr>
          <a:xfrm>
            <a:off x="54864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B066FF"/>
                </a:solidFill>
                <a:latin typeface="Arial"/>
              </a:defRPr>
            </a:pPr>
            <a:r>
              <a:t>⌨️ Desain &amp; Summoning Logic</a:t>
            </a:r>
          </a:p>
          <a:p>
            <a:br/>
            <a:pPr>
              <a:defRPr sz="1400">
                <a:solidFill>
                  <a:srgbClr val="F0F4F8"/>
                </a:solidFill>
              </a:defRPr>
            </a:pPr>
            <a:r>
              <a:t>• Activation Trigger:</a:t>
            </a:r>
            <a:br/>
            <a:r>
              <a:t>Ditahan menggunakan gestur Peace Ganda (V-Sign Bimanual) selama 2.0 detik statis.</a:t>
            </a:r>
            <a:br/>
            <a:br/>
            <a:r>
              <a:t>• Layout &amp; Koordinat:</a:t>
            </a:r>
            <a:br/>
            <a:r>
              <a:t>3 baris QWERTY transparan (Total 30 tombol termasuk Space, Backspace, Enter, Close) yang diposisikan pada koordinat Y: 460 – 690.</a:t>
            </a:r>
            <a:br/>
            <a:br/>
            <a:r>
              <a:t>• Safety Interlock:</a:t>
            </a:r>
            <a:br/>
            <a:r>
              <a:t>Saat keyboard aktif, aksi navigasi kursor mouse (Label 0) dan klik (Label 1) dibekukan otomatis oleh sistem agar tidak terjadi salah klik pada aplikasi latar belakang.</a:t>
            </a:r>
          </a:p>
        </p:txBody>
      </p:sp>
      <p:sp>
        <p:nvSpPr>
          <p:cNvPr id="4" name="Rounded Rectangle 3"/>
          <p:cNvSpPr/>
          <p:nvPr/>
        </p:nvSpPr>
        <p:spPr>
          <a:xfrm>
            <a:off x="621792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00D4FF"/>
                </a:solidFill>
                <a:latin typeface="Arial"/>
              </a:defRPr>
            </a:pPr>
            <a:r>
              <a:t>👆 Hover-Dwell Progress Bar Input</a:t>
            </a:r>
          </a:p>
          <a:p>
            <a:br/>
            <a:pPr>
              <a:defRPr sz="1400">
                <a:solidFill>
                  <a:srgbClr val="F0F4F8"/>
                </a:solidFill>
              </a:defRPr>
            </a:pPr>
            <a:r>
              <a:t>• Mengetik di Udara Tanpa Haptic Feedback:</a:t>
            </a:r>
            <a:br/>
            <a:r>
              <a:t>1. Jari telunjuk (Kiri atau Kanan) diarahkan ke dalam Bounding Box tombol target.</a:t>
            </a:r>
            <a:br/>
            <a:r>
              <a:t>2. Tombol menyala hijau dan bar progres interaktif mulai terisi di bawah tombol (`hover_start` timestamp).</a:t>
            </a:r>
            <a:br/>
            <a:r>
              <a:t>3. Jika posisi dipertahankan tepat 1.0 detik, sistem mengirim keystroke via `pyautogui.write()`.</a:t>
            </a:r>
            <a:br/>
            <a:r>
              <a:t>4. Dilengkapi cooldown 0.8 detik untuk mencegah huruf terketik ganda (anti-spam).</a:t>
            </a:r>
            <a:br/>
            <a:br/>
            <a:r>
              <a:t>• Evaluasi Kecepatan:</a:t>
            </a:r>
            <a:br/>
            <a:r>
              <a:t>Dwell time 1.0s menghasilkan kecepatan ~60 karakter/menit, cocok untuk input pendek/password.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Keunggulan Arsitektur &amp; Rekayasa Sistem</a:t>
            </a:r>
          </a:p>
        </p:txBody>
      </p:sp>
      <p:sp>
        <p:nvSpPr>
          <p:cNvPr id="3" name="Rounded Rectangle 2"/>
          <p:cNvSpPr/>
          <p:nvPr/>
        </p:nvSpPr>
        <p:spPr>
          <a:xfrm>
            <a:off x="548640" y="1463040"/>
            <a:ext cx="35204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700" b="1">
                <a:solidFill>
                  <a:srgbClr val="00D4FF"/>
                </a:solidFill>
                <a:latin typeface="Arial"/>
              </a:defRPr>
            </a:pPr>
            <a:r>
              <a:t>🌊 Exponential Moving Average (EMA)</a:t>
            </a:r>
          </a:p>
          <a:p>
            <a:br/>
            <a:br/>
            <a:pPr>
              <a:defRPr sz="1450">
                <a:solidFill>
                  <a:srgbClr val="F0F4F8"/>
                </a:solidFill>
              </a:defRPr>
            </a:pPr>
            <a:r>
              <a:t>Kursor tidak mengambil koordinat mentah yang bergetar. Formula `cursor = 0.25*raw + 0.75*prev` meredam tremor alami tangan secara heuristik sehingga gerakan kursor sehalus mouse presisi tinggi tanpa lag.</a:t>
            </a:r>
          </a:p>
        </p:txBody>
      </p:sp>
      <p:sp>
        <p:nvSpPr>
          <p:cNvPr id="4" name="Rounded Rectangle 3"/>
          <p:cNvSpPr/>
          <p:nvPr/>
        </p:nvSpPr>
        <p:spPr>
          <a:xfrm>
            <a:off x="4297679" y="1463040"/>
            <a:ext cx="35204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700" b="1">
                <a:solidFill>
                  <a:srgbClr val="00FF88"/>
                </a:solidFill>
                <a:latin typeface="Arial"/>
              </a:defRPr>
            </a:pPr>
            <a:r>
              <a:t>⚡ Asynchronous PowerShell WMI</a:t>
            </a:r>
          </a:p>
          <a:p>
            <a:br/>
            <a:br/>
            <a:pPr>
              <a:defRPr sz="1450">
                <a:solidFill>
                  <a:srgbClr val="F0F4F8"/>
                </a:solidFill>
              </a:defRPr>
            </a:pPr>
            <a:r>
              <a:t>Pengaturan kecerahan monitor dimuat dalam `threading.Thread` terpisah (non-blocking via `subprocess.Popen`) agar pemanggilan API Windows WMI tidak menyebabkan frame video kamera patah-patah.</a:t>
            </a:r>
          </a:p>
        </p:txBody>
      </p:sp>
      <p:sp>
        <p:nvSpPr>
          <p:cNvPr id="5" name="Rounded Rectangle 4"/>
          <p:cNvSpPr/>
          <p:nvPr/>
        </p:nvSpPr>
        <p:spPr>
          <a:xfrm>
            <a:off x="8046719" y="1463040"/>
            <a:ext cx="352044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700" b="1">
                <a:solidFill>
                  <a:srgbClr val="B066FF"/>
                </a:solidFill>
                <a:latin typeface="Arial"/>
              </a:defRPr>
            </a:pPr>
            <a:r>
              <a:t>🪟 Win32 Topmost Transparent API</a:t>
            </a:r>
          </a:p>
          <a:p>
            <a:br/>
            <a:br/>
            <a:pPr>
              <a:defRPr sz="1450">
                <a:solidFill>
                  <a:srgbClr val="F0F4F8"/>
                </a:solidFill>
              </a:defRPr>
            </a:pPr>
            <a:r>
              <a:t>Manipulasi window di tingkat OS (`SetLayeredWindowAttributes`) memberi transparansi 60%, posisi di atas taskbar pojok kanan bawah (`360×202 px`), dan status Always-on-Top konstan anti-tertimpa.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Audit Kritis Reviewer: Temuan Bug P0 &amp; P1</a:t>
            </a:r>
          </a:p>
        </p:txBody>
      </p:sp>
      <p:graphicFrame>
        <p:nvGraphicFramePr>
          <p:cNvPr id="3" name="Table 2"/>
          <p:cNvGraphicFramePr>
            <a:graphicFrameLocks noGrp="1"/>
          </p:cNvGraphicFramePr>
          <p:nvPr/>
        </p:nvGraphicFramePr>
        <p:xfrm>
          <a:off x="548640" y="1463040"/>
          <a:ext cx="11064240" cy="4754880"/>
        </p:xfrm>
        <a:graphic>
          <a:graphicData uri="http://schemas.openxmlformats.org/drawingml/2006/table">
            <a:tbl>
              <a:tblPr firstRow="1" bandRow="1">
                <a:tableStyleId>{5C22544A-7EE6-4342-B048-85BDC9FD1C3A}</a:tableStyleId>
              </a:tblPr>
              <a:tblGrid>
                <a:gridCol w="548640"/>
                <a:gridCol w="3017520"/>
                <a:gridCol w="5852160"/>
                <a:gridCol w="1645920"/>
              </a:tblGrid>
              <a:tr h="950976">
                <a:tc>
                  <a:txBody>
                    <a:bodyPr/>
                    <a:lstStyle/>
                    <a:p>
                      <a:pPr algn="ctr">
                        <a:defRPr sz="1300" b="1">
                          <a:solidFill>
                            <a:srgbClr val="00D4FF"/>
                          </a:solidFill>
                          <a:latin typeface="Arial"/>
                        </a:defRPr>
                      </a:pPr>
                      <a:r>
                        <a:t>#</a:t>
                      </a:r>
                    </a:p>
                  </a:txBody>
                  <a:tcPr>
                    <a:solidFill>
                      <a:srgbClr val="16213E"/>
                    </a:solidFill>
                  </a:tcPr>
                </a:tc>
                <a:tc>
                  <a:txBody>
                    <a:bodyPr/>
                    <a:lstStyle/>
                    <a:p>
                      <a:pPr algn="ctr">
                        <a:defRPr sz="1300" b="1">
                          <a:solidFill>
                            <a:srgbClr val="00D4FF"/>
                          </a:solidFill>
                          <a:latin typeface="Arial"/>
                        </a:defRPr>
                      </a:pPr>
                      <a:r>
                        <a:t>Temuan Teknis &amp; Bug</a:t>
                      </a:r>
                    </a:p>
                  </a:txBody>
                  <a:tcPr>
                    <a:solidFill>
                      <a:srgbClr val="16213E"/>
                    </a:solidFill>
                  </a:tcPr>
                </a:tc>
                <a:tc>
                  <a:txBody>
                    <a:bodyPr/>
                    <a:lstStyle/>
                    <a:p>
                      <a:pPr algn="ctr">
                        <a:defRPr sz="1300" b="1">
                          <a:solidFill>
                            <a:srgbClr val="00D4FF"/>
                          </a:solidFill>
                          <a:latin typeface="Arial"/>
                        </a:defRPr>
                      </a:pPr>
                      <a:r>
                        <a:t>Dampak &amp; Penjelasan Teknis</a:t>
                      </a:r>
                    </a:p>
                  </a:txBody>
                  <a:tcPr>
                    <a:solidFill>
                      <a:srgbClr val="16213E"/>
                    </a:solidFill>
                  </a:tcPr>
                </a:tc>
                <a:tc>
                  <a:txBody>
                    <a:bodyPr/>
                    <a:lstStyle/>
                    <a:p>
                      <a:pPr algn="ctr">
                        <a:defRPr sz="1300" b="1">
                          <a:solidFill>
                            <a:srgbClr val="00D4FF"/>
                          </a:solidFill>
                          <a:latin typeface="Arial"/>
                        </a:defRPr>
                      </a:pPr>
                      <a:r>
                        <a:t>Severity</a:t>
                      </a:r>
                    </a:p>
                  </a:txBody>
                  <a:tcPr>
                    <a:solidFill>
                      <a:srgbClr val="16213E"/>
                    </a:solidFill>
                  </a:tcPr>
                </a:tc>
              </a:tr>
              <a:tr h="950976">
                <a:tc>
                  <a:txBody>
                    <a:bodyPr/>
                    <a:lstStyle/>
                    <a:p>
                      <a:pPr algn="ctr">
                        <a:defRPr sz="1300">
                          <a:solidFill>
                            <a:srgbClr val="F0F4F8"/>
                          </a:solidFill>
                          <a:latin typeface="Arial"/>
                        </a:defRPr>
                      </a:pPr>
                      <a:r>
                        <a:t>1</a:t>
                      </a:r>
                    </a:p>
                  </a:txBody>
                  <a:tcPr>
                    <a:solidFill>
                      <a:srgbClr val="12162D"/>
                    </a:solidFill>
                  </a:tcPr>
                </a:tc>
                <a:tc>
                  <a:txBody>
                    <a:bodyPr/>
                    <a:lstStyle/>
                    <a:p>
                      <a:pPr>
                        <a:defRPr sz="1300">
                          <a:solidFill>
                            <a:srgbClr val="F0F4F8"/>
                          </a:solidFill>
                          <a:latin typeface="Arial"/>
                        </a:defRPr>
                      </a:pPr>
                      <a:r>
                        <a:t>Uninitialized Variables</a:t>
                      </a:r>
                      <a:br/>
                      <a:r>
                        <a:t>(`is_paused`, `keyboard_active`)</a:t>
                      </a:r>
                    </a:p>
                  </a:txBody>
                  <a:tcPr>
                    <a:solidFill>
                      <a:srgbClr val="12162D"/>
                    </a:solidFill>
                  </a:tcPr>
                </a:tc>
                <a:tc>
                  <a:txBody>
                    <a:bodyPr/>
                    <a:lstStyle/>
                    <a:p>
                      <a:pPr>
                        <a:defRPr sz="1300">
                          <a:solidFill>
                            <a:srgbClr val="F0F4F8"/>
                          </a:solidFill>
                          <a:latin typeface="Arial"/>
                        </a:defRPr>
                      </a:pPr>
                      <a:r>
                        <a:t>Variabel dipanggil di logika kondisional main loop tanpa inisialisasi awal di atas. Memicu NameError &amp; crash fatal seketika saat runtime.</a:t>
                      </a:r>
                    </a:p>
                  </a:txBody>
                  <a:tcPr>
                    <a:solidFill>
                      <a:srgbClr val="12162D"/>
                    </a:solidFill>
                  </a:tcPr>
                </a:tc>
                <a:tc>
                  <a:txBody>
                    <a:bodyPr/>
                    <a:lstStyle/>
                    <a:p>
                      <a:pPr algn="ctr">
                        <a:defRPr sz="1300" b="1">
                          <a:solidFill>
                            <a:srgbClr val="FF6B6B"/>
                          </a:solidFill>
                          <a:latin typeface="Arial"/>
                        </a:defRPr>
                      </a:pPr>
                      <a:r>
                        <a:t>CRITICAL (P0)</a:t>
                      </a:r>
                    </a:p>
                  </a:txBody>
                  <a:tcPr>
                    <a:solidFill>
                      <a:srgbClr val="12162D"/>
                    </a:solidFill>
                  </a:tcPr>
                </a:tc>
              </a:tr>
              <a:tr h="950976">
                <a:tc>
                  <a:txBody>
                    <a:bodyPr/>
                    <a:lstStyle/>
                    <a:p>
                      <a:pPr algn="ctr">
                        <a:defRPr sz="1300">
                          <a:solidFill>
                            <a:srgbClr val="F0F4F8"/>
                          </a:solidFill>
                          <a:latin typeface="Arial"/>
                        </a:defRPr>
                      </a:pPr>
                      <a:r>
                        <a:t>2</a:t>
                      </a:r>
                    </a:p>
                  </a:txBody>
                  <a:tcPr>
                    <a:solidFill>
                      <a:srgbClr val="1C2241"/>
                    </a:solidFill>
                  </a:tcPr>
                </a:tc>
                <a:tc>
                  <a:txBody>
                    <a:bodyPr/>
                    <a:lstStyle/>
                    <a:p>
                      <a:pPr>
                        <a:defRPr sz="1300">
                          <a:solidFill>
                            <a:srgbClr val="F0F4F8"/>
                          </a:solidFill>
                          <a:latin typeface="Arial"/>
                        </a:defRPr>
                      </a:pPr>
                      <a:r>
                        <a:t>No Probability Confidence</a:t>
                      </a:r>
                      <a:br/>
                      <a:r>
                        <a:t>Threshold on SVM Predict</a:t>
                      </a:r>
                    </a:p>
                  </a:txBody>
                  <a:tcPr>
                    <a:solidFill>
                      <a:srgbClr val="1C2241"/>
                    </a:solidFill>
                  </a:tcPr>
                </a:tc>
                <a:tc>
                  <a:txBody>
                    <a:bodyPr/>
                    <a:lstStyle/>
                    <a:p>
                      <a:pPr>
                        <a:defRPr sz="1300">
                          <a:solidFill>
                            <a:srgbClr val="F0F4F8"/>
                          </a:solidFill>
                          <a:latin typeface="Arial"/>
                        </a:defRPr>
                      </a:pPr>
                      <a:r>
                        <a:t>SVM memprediksi label setiap frame tanpa memeriksa probabilitas (`predict_proba`). Posisi tangan transisi langsung dieksekusi menjadi aksi salah.</a:t>
                      </a:r>
                    </a:p>
                  </a:txBody>
                  <a:tcPr>
                    <a:solidFill>
                      <a:srgbClr val="1C2241"/>
                    </a:solidFill>
                  </a:tcPr>
                </a:tc>
                <a:tc>
                  <a:txBody>
                    <a:bodyPr/>
                    <a:lstStyle/>
                    <a:p>
                      <a:pPr algn="ctr">
                        <a:defRPr sz="1300" b="1">
                          <a:solidFill>
                            <a:srgbClr val="FF6B6B"/>
                          </a:solidFill>
                          <a:latin typeface="Arial"/>
                        </a:defRPr>
                      </a:pPr>
                      <a:r>
                        <a:t>CRITICAL (P0)</a:t>
                      </a:r>
                    </a:p>
                  </a:txBody>
                  <a:tcPr>
                    <a:solidFill>
                      <a:srgbClr val="1C2241"/>
                    </a:solidFill>
                  </a:tcPr>
                </a:tc>
              </a:tr>
              <a:tr h="950976">
                <a:tc>
                  <a:txBody>
                    <a:bodyPr/>
                    <a:lstStyle/>
                    <a:p>
                      <a:pPr algn="ctr">
                        <a:defRPr sz="1300">
                          <a:solidFill>
                            <a:srgbClr val="F0F4F8"/>
                          </a:solidFill>
                          <a:latin typeface="Arial"/>
                        </a:defRPr>
                      </a:pPr>
                      <a:r>
                        <a:t>3</a:t>
                      </a:r>
                    </a:p>
                  </a:txBody>
                  <a:tcPr>
                    <a:solidFill>
                      <a:srgbClr val="12162D"/>
                    </a:solidFill>
                  </a:tcPr>
                </a:tc>
                <a:tc>
                  <a:txBody>
                    <a:bodyPr/>
                    <a:lstStyle/>
                    <a:p>
                      <a:pPr>
                        <a:defRPr sz="1300">
                          <a:solidFill>
                            <a:srgbClr val="F0F4F8"/>
                          </a:solidFill>
                          <a:latin typeface="Arial"/>
                        </a:defRPr>
                      </a:pPr>
                      <a:r>
                        <a:t>Blocking I/O Main Thread</a:t>
                      </a:r>
                      <a:br/>
                      <a:r>
                        <a:t>(`time.sleep` calls)</a:t>
                      </a:r>
                    </a:p>
                  </a:txBody>
                  <a:tcPr>
                    <a:solidFill>
                      <a:srgbClr val="12162D"/>
                    </a:solidFill>
                  </a:tcPr>
                </a:tc>
                <a:tc>
                  <a:txBody>
                    <a:bodyPr/>
                    <a:lstStyle/>
                    <a:p>
                      <a:pPr>
                        <a:defRPr sz="1300">
                          <a:solidFill>
                            <a:srgbClr val="F0F4F8"/>
                          </a:solidFill>
                          <a:latin typeface="Arial"/>
                        </a:defRPr>
                      </a:pPr>
                      <a:r>
                        <a:t>Penggunaan `time.sleep(0.5)` dan `time.sleep(0.3)` saat toggle pause menghentikan penangkapan frame kamera seketika (stuttering/freeze).</a:t>
                      </a:r>
                    </a:p>
                  </a:txBody>
                  <a:tcPr>
                    <a:solidFill>
                      <a:srgbClr val="12162D"/>
                    </a:solidFill>
                  </a:tcPr>
                </a:tc>
                <a:tc>
                  <a:txBody>
                    <a:bodyPr/>
                    <a:lstStyle/>
                    <a:p>
                      <a:pPr algn="ctr">
                        <a:defRPr sz="1300" b="1">
                          <a:solidFill>
                            <a:srgbClr val="FFB400"/>
                          </a:solidFill>
                          <a:latin typeface="Arial"/>
                        </a:defRPr>
                      </a:pPr>
                      <a:r>
                        <a:t>HIGH (P1)</a:t>
                      </a:r>
                    </a:p>
                  </a:txBody>
                  <a:tcPr>
                    <a:solidFill>
                      <a:srgbClr val="12162D"/>
                    </a:solidFill>
                  </a:tcPr>
                </a:tc>
              </a:tr>
              <a:tr h="950976">
                <a:tc>
                  <a:txBody>
                    <a:bodyPr/>
                    <a:lstStyle/>
                    <a:p>
                      <a:pPr algn="ctr">
                        <a:defRPr sz="1300">
                          <a:solidFill>
                            <a:srgbClr val="F0F4F8"/>
                          </a:solidFill>
                          <a:latin typeface="Arial"/>
                        </a:defRPr>
                      </a:pPr>
                      <a:r>
                        <a:t>4</a:t>
                      </a:r>
                    </a:p>
                  </a:txBody>
                  <a:tcPr>
                    <a:solidFill>
                      <a:srgbClr val="1C2241"/>
                    </a:solidFill>
                  </a:tcPr>
                </a:tc>
                <a:tc>
                  <a:txBody>
                    <a:bodyPr/>
                    <a:lstStyle/>
                    <a:p>
                      <a:pPr>
                        <a:defRPr sz="1300">
                          <a:solidFill>
                            <a:srgbClr val="F0F4F8"/>
                          </a:solidFill>
                          <a:latin typeface="Arial"/>
                        </a:defRPr>
                      </a:pPr>
                      <a:r>
                        <a:t>Absennya Cross-Validation</a:t>
                      </a:r>
                      <a:br/>
                      <a:r>
                        <a:t>(No Stratified K-Fold)</a:t>
                      </a:r>
                    </a:p>
                  </a:txBody>
                  <a:tcPr>
                    <a:solidFill>
                      <a:srgbClr val="1C2241"/>
                    </a:solidFill>
                  </a:tcPr>
                </a:tc>
                <a:tc>
                  <a:txBody>
                    <a:bodyPr/>
                    <a:lstStyle/>
                    <a:p>
                      <a:pPr>
                        <a:defRPr sz="1300">
                          <a:solidFill>
                            <a:srgbClr val="F0F4F8"/>
                          </a:solidFill>
                          <a:latin typeface="Arial"/>
                        </a:defRPr>
                      </a:pPr>
                      <a:r>
                        <a:t>Pelatihan hanya memakai 1 kali split standar. Stabilitas model pada varians data tidak teruji secara akademik (rawan overfit).</a:t>
                      </a:r>
                    </a:p>
                  </a:txBody>
                  <a:tcPr>
                    <a:solidFill>
                      <a:srgbClr val="1C2241"/>
                    </a:solidFill>
                  </a:tcPr>
                </a:tc>
                <a:tc>
                  <a:txBody>
                    <a:bodyPr/>
                    <a:lstStyle/>
                    <a:p>
                      <a:pPr algn="ctr">
                        <a:defRPr sz="1300" b="1">
                          <a:solidFill>
                            <a:srgbClr val="FFB400"/>
                          </a:solidFill>
                          <a:latin typeface="Arial"/>
                        </a:defRPr>
                      </a:pPr>
                      <a:r>
                        <a:t>HIGH (P1)</a:t>
                      </a:r>
                    </a:p>
                  </a:txBody>
                  <a:tcPr>
                    <a:solidFill>
                      <a:srgbClr val="1C2241"/>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Audit Kritis Reviewer: Temuan P1, P2, P3</a:t>
            </a:r>
          </a:p>
        </p:txBody>
      </p:sp>
      <p:graphicFrame>
        <p:nvGraphicFramePr>
          <p:cNvPr id="3" name="Table 2"/>
          <p:cNvGraphicFramePr>
            <a:graphicFrameLocks noGrp="1"/>
          </p:cNvGraphicFramePr>
          <p:nvPr/>
        </p:nvGraphicFramePr>
        <p:xfrm>
          <a:off x="548640" y="1463040"/>
          <a:ext cx="11064240" cy="4754880"/>
        </p:xfrm>
        <a:graphic>
          <a:graphicData uri="http://schemas.openxmlformats.org/drawingml/2006/table">
            <a:tbl>
              <a:tblPr firstRow="1" bandRow="1">
                <a:tableStyleId>{5C22544A-7EE6-4342-B048-85BDC9FD1C3A}</a:tableStyleId>
              </a:tblPr>
              <a:tblGrid>
                <a:gridCol w="548640"/>
                <a:gridCol w="3017520"/>
                <a:gridCol w="5852160"/>
                <a:gridCol w="1645920"/>
              </a:tblGrid>
              <a:tr h="792480">
                <a:tc>
                  <a:txBody>
                    <a:bodyPr/>
                    <a:lstStyle/>
                    <a:p>
                      <a:pPr algn="ctr">
                        <a:defRPr sz="1300" b="1">
                          <a:solidFill>
                            <a:srgbClr val="00D4FF"/>
                          </a:solidFill>
                          <a:latin typeface="Arial"/>
                        </a:defRPr>
                      </a:pPr>
                      <a:r>
                        <a:t>#</a:t>
                      </a:r>
                    </a:p>
                  </a:txBody>
                  <a:tcPr>
                    <a:solidFill>
                      <a:srgbClr val="16213E"/>
                    </a:solidFill>
                  </a:tcPr>
                </a:tc>
                <a:tc>
                  <a:txBody>
                    <a:bodyPr/>
                    <a:lstStyle/>
                    <a:p>
                      <a:pPr algn="ctr">
                        <a:defRPr sz="1300" b="1">
                          <a:solidFill>
                            <a:srgbClr val="00D4FF"/>
                          </a:solidFill>
                          <a:latin typeface="Arial"/>
                        </a:defRPr>
                      </a:pPr>
                      <a:r>
                        <a:t>Temuan Teknis &amp; Bug</a:t>
                      </a:r>
                    </a:p>
                  </a:txBody>
                  <a:tcPr>
                    <a:solidFill>
                      <a:srgbClr val="16213E"/>
                    </a:solidFill>
                  </a:tcPr>
                </a:tc>
                <a:tc>
                  <a:txBody>
                    <a:bodyPr/>
                    <a:lstStyle/>
                    <a:p>
                      <a:pPr algn="ctr">
                        <a:defRPr sz="1300" b="1">
                          <a:solidFill>
                            <a:srgbClr val="00D4FF"/>
                          </a:solidFill>
                          <a:latin typeface="Arial"/>
                        </a:defRPr>
                      </a:pPr>
                      <a:r>
                        <a:t>Dampak &amp; Penjelasan Teknis</a:t>
                      </a:r>
                    </a:p>
                  </a:txBody>
                  <a:tcPr>
                    <a:solidFill>
                      <a:srgbClr val="16213E"/>
                    </a:solidFill>
                  </a:tcPr>
                </a:tc>
                <a:tc>
                  <a:txBody>
                    <a:bodyPr/>
                    <a:lstStyle/>
                    <a:p>
                      <a:pPr algn="ctr">
                        <a:defRPr sz="1300" b="1">
                          <a:solidFill>
                            <a:srgbClr val="00D4FF"/>
                          </a:solidFill>
                          <a:latin typeface="Arial"/>
                        </a:defRPr>
                      </a:pPr>
                      <a:r>
                        <a:t>Severity</a:t>
                      </a:r>
                    </a:p>
                  </a:txBody>
                  <a:tcPr>
                    <a:solidFill>
                      <a:srgbClr val="16213E"/>
                    </a:solidFill>
                  </a:tcPr>
                </a:tc>
              </a:tr>
              <a:tr h="792480">
                <a:tc>
                  <a:txBody>
                    <a:bodyPr/>
                    <a:lstStyle/>
                    <a:p>
                      <a:pPr algn="ctr">
                        <a:defRPr sz="1300">
                          <a:solidFill>
                            <a:srgbClr val="F0F4F8"/>
                          </a:solidFill>
                          <a:latin typeface="Arial"/>
                        </a:defRPr>
                      </a:pPr>
                      <a:r>
                        <a:t>5</a:t>
                      </a:r>
                    </a:p>
                  </a:txBody>
                  <a:tcPr>
                    <a:solidFill>
                      <a:srgbClr val="12162D"/>
                    </a:solidFill>
                  </a:tcPr>
                </a:tc>
                <a:tc>
                  <a:txBody>
                    <a:bodyPr/>
                    <a:lstStyle/>
                    <a:p>
                      <a:pPr>
                        <a:defRPr sz="1300">
                          <a:solidFill>
                            <a:srgbClr val="F0F4F8"/>
                          </a:solidFill>
                          <a:latin typeface="Arial"/>
                        </a:defRPr>
                      </a:pPr>
                      <a:r>
                        <a:t>Dataset Imbalance Ratio</a:t>
                      </a:r>
                      <a:br/>
                      <a:r>
                        <a:t>(4.41 : 1 Dominasi Pinch)</a:t>
                      </a:r>
                    </a:p>
                  </a:txBody>
                  <a:tcPr>
                    <a:solidFill>
                      <a:srgbClr val="12162D"/>
                    </a:solidFill>
                  </a:tcPr>
                </a:tc>
                <a:tc>
                  <a:txBody>
                    <a:bodyPr/>
                    <a:lstStyle/>
                    <a:p>
                      <a:pPr>
                        <a:defRPr sz="1300">
                          <a:solidFill>
                            <a:srgbClr val="F0F4F8"/>
                          </a:solidFill>
                          <a:latin typeface="Arial"/>
                        </a:defRPr>
                      </a:pPr>
                      <a:r>
                        <a:t>Kelas minoritas berisiko tinggi mengalami false negative. Model SVM sangat bias terhadap kelas klik/drag.</a:t>
                      </a:r>
                    </a:p>
                  </a:txBody>
                  <a:tcPr>
                    <a:solidFill>
                      <a:srgbClr val="12162D"/>
                    </a:solidFill>
                  </a:tcPr>
                </a:tc>
                <a:tc>
                  <a:txBody>
                    <a:bodyPr/>
                    <a:lstStyle/>
                    <a:p>
                      <a:pPr algn="ctr">
                        <a:defRPr sz="1300" b="1">
                          <a:solidFill>
                            <a:srgbClr val="FFB400"/>
                          </a:solidFill>
                          <a:latin typeface="Arial"/>
                        </a:defRPr>
                      </a:pPr>
                      <a:r>
                        <a:t>HIGH (P1)</a:t>
                      </a:r>
                    </a:p>
                  </a:txBody>
                  <a:tcPr>
                    <a:solidFill>
                      <a:srgbClr val="12162D"/>
                    </a:solidFill>
                  </a:tcPr>
                </a:tc>
              </a:tr>
              <a:tr h="792480">
                <a:tc>
                  <a:txBody>
                    <a:bodyPr/>
                    <a:lstStyle/>
                    <a:p>
                      <a:pPr algn="ctr">
                        <a:defRPr sz="1300">
                          <a:solidFill>
                            <a:srgbClr val="F0F4F8"/>
                          </a:solidFill>
                          <a:latin typeface="Arial"/>
                        </a:defRPr>
                      </a:pPr>
                      <a:r>
                        <a:t>6</a:t>
                      </a:r>
                    </a:p>
                  </a:txBody>
                  <a:tcPr>
                    <a:solidFill>
                      <a:srgbClr val="1C2241"/>
                    </a:solidFill>
                  </a:tcPr>
                </a:tc>
                <a:tc>
                  <a:txBody>
                    <a:bodyPr/>
                    <a:lstStyle/>
                    <a:p>
                      <a:pPr>
                        <a:defRPr sz="1300">
                          <a:solidFill>
                            <a:srgbClr val="F0F4F8"/>
                          </a:solidFill>
                          <a:latin typeface="Arial"/>
                        </a:defRPr>
                      </a:pPr>
                      <a:r>
                        <a:t>PyAutoGUI Failsafe</a:t>
                      </a:r>
                      <a:br/>
                      <a:r>
                        <a:t>Tidak Dikonfigurasi</a:t>
                      </a:r>
                    </a:p>
                  </a:txBody>
                  <a:tcPr>
                    <a:solidFill>
                      <a:srgbClr val="1C2241"/>
                    </a:solidFill>
                  </a:tcPr>
                </a:tc>
                <a:tc>
                  <a:txBody>
                    <a:bodyPr/>
                    <a:lstStyle/>
                    <a:p>
                      <a:pPr>
                        <a:defRPr sz="1300">
                          <a:solidFill>
                            <a:srgbClr val="F0F4F8"/>
                          </a:solidFill>
                          <a:latin typeface="Arial"/>
                        </a:defRPr>
                      </a:pPr>
                      <a:r>
                        <a:t>Jika sistem tidak terkendali atau kursor terjebak dalam loop drag, pengguna tidak memiliki intervensi darurat pojok layar.</a:t>
                      </a:r>
                    </a:p>
                  </a:txBody>
                  <a:tcPr>
                    <a:solidFill>
                      <a:srgbClr val="1C2241"/>
                    </a:solidFill>
                  </a:tcPr>
                </a:tc>
                <a:tc>
                  <a:txBody>
                    <a:bodyPr/>
                    <a:lstStyle/>
                    <a:p>
                      <a:pPr algn="ctr">
                        <a:defRPr sz="1300" b="1">
                          <a:solidFill>
                            <a:srgbClr val="FFB400"/>
                          </a:solidFill>
                          <a:latin typeface="Arial"/>
                        </a:defRPr>
                      </a:pPr>
                      <a:r>
                        <a:t>HIGH (P1)</a:t>
                      </a:r>
                    </a:p>
                  </a:txBody>
                  <a:tcPr>
                    <a:solidFill>
                      <a:srgbClr val="1C2241"/>
                    </a:solidFill>
                  </a:tcPr>
                </a:tc>
              </a:tr>
              <a:tr h="792480">
                <a:tc>
                  <a:txBody>
                    <a:bodyPr/>
                    <a:lstStyle/>
                    <a:p>
                      <a:pPr algn="ctr">
                        <a:defRPr sz="1300">
                          <a:solidFill>
                            <a:srgbClr val="F0F4F8"/>
                          </a:solidFill>
                          <a:latin typeface="Arial"/>
                        </a:defRPr>
                      </a:pPr>
                      <a:r>
                        <a:t>7</a:t>
                      </a:r>
                    </a:p>
                  </a:txBody>
                  <a:tcPr>
                    <a:solidFill>
                      <a:srgbClr val="12162D"/>
                    </a:solidFill>
                  </a:tcPr>
                </a:tc>
                <a:tc>
                  <a:txBody>
                    <a:bodyPr/>
                    <a:lstStyle/>
                    <a:p>
                      <a:pPr>
                        <a:defRPr sz="1300">
                          <a:solidFill>
                            <a:srgbClr val="F0F4F8"/>
                          </a:solidFill>
                          <a:latin typeface="Arial"/>
                        </a:defRPr>
                      </a:pPr>
                      <a:r>
                        <a:t>Tidak Ada Logging Module</a:t>
                      </a:r>
                    </a:p>
                  </a:txBody>
                  <a:tcPr>
                    <a:solidFill>
                      <a:srgbClr val="12162D"/>
                    </a:solidFill>
                  </a:tcPr>
                </a:tc>
                <a:tc>
                  <a:txBody>
                    <a:bodyPr/>
                    <a:lstStyle/>
                    <a:p>
                      <a:pPr>
                        <a:defRPr sz="1300">
                          <a:solidFill>
                            <a:srgbClr val="F0F4F8"/>
                          </a:solidFill>
                          <a:latin typeface="Arial"/>
                        </a:defRPr>
                      </a:pPr>
                      <a:r>
                        <a:t>Semua penanganan kesalahan hanya dicetak ke konsol via print, tidak dapat dipantau atau didebug di lingkungan produksi.</a:t>
                      </a:r>
                    </a:p>
                  </a:txBody>
                  <a:tcPr>
                    <a:solidFill>
                      <a:srgbClr val="12162D"/>
                    </a:solidFill>
                  </a:tcPr>
                </a:tc>
                <a:tc>
                  <a:txBody>
                    <a:bodyPr/>
                    <a:lstStyle/>
                    <a:p>
                      <a:pPr algn="ctr">
                        <a:defRPr sz="1300" b="1">
                          <a:solidFill>
                            <a:srgbClr val="FFB400"/>
                          </a:solidFill>
                          <a:latin typeface="Arial"/>
                        </a:defRPr>
                      </a:pPr>
                      <a:r>
                        <a:t>HIGH (P1)</a:t>
                      </a:r>
                    </a:p>
                  </a:txBody>
                  <a:tcPr>
                    <a:solidFill>
                      <a:srgbClr val="12162D"/>
                    </a:solidFill>
                  </a:tcPr>
                </a:tc>
              </a:tr>
              <a:tr h="792480">
                <a:tc>
                  <a:txBody>
                    <a:bodyPr/>
                    <a:lstStyle/>
                    <a:p>
                      <a:pPr algn="ctr">
                        <a:defRPr sz="1300">
                          <a:solidFill>
                            <a:srgbClr val="F0F4F8"/>
                          </a:solidFill>
                          <a:latin typeface="Arial"/>
                        </a:defRPr>
                      </a:pPr>
                      <a:r>
                        <a:t>8</a:t>
                      </a:r>
                    </a:p>
                  </a:txBody>
                  <a:tcPr>
                    <a:solidFill>
                      <a:srgbClr val="1C2241"/>
                    </a:solidFill>
                  </a:tcPr>
                </a:tc>
                <a:tc>
                  <a:txBody>
                    <a:bodyPr/>
                    <a:lstStyle/>
                    <a:p>
                      <a:pPr>
                        <a:defRPr sz="1300">
                          <a:solidFill>
                            <a:srgbClr val="F0F4F8"/>
                          </a:solidFill>
                          <a:latin typeface="Arial"/>
                        </a:defRPr>
                      </a:pPr>
                      <a:r>
                        <a:t>Hardcoded Coordinates</a:t>
                      </a:r>
                      <a:br/>
                      <a:r>
                        <a:t>untuk Keyboard &amp; Screen</a:t>
                      </a:r>
                    </a:p>
                  </a:txBody>
                  <a:tcPr>
                    <a:solidFill>
                      <a:srgbClr val="1C2241"/>
                    </a:solidFill>
                  </a:tcPr>
                </a:tc>
                <a:tc>
                  <a:txBody>
                    <a:bodyPr/>
                    <a:lstStyle/>
                    <a:p>
                      <a:pPr>
                        <a:defRPr sz="1300">
                          <a:solidFill>
                            <a:srgbClr val="F0F4F8"/>
                          </a:solidFill>
                          <a:latin typeface="Arial"/>
                        </a:defRPr>
                      </a:pPr>
                      <a:r>
                        <a:t>Posisi Y keyboard (460-690) statis untuk resolusi kamera 720p. Tidak adaptif jika aspect ratio kamera/monitor berubah.</a:t>
                      </a:r>
                    </a:p>
                  </a:txBody>
                  <a:tcPr>
                    <a:solidFill>
                      <a:srgbClr val="1C2241"/>
                    </a:solidFill>
                  </a:tcPr>
                </a:tc>
                <a:tc>
                  <a:txBody>
                    <a:bodyPr/>
                    <a:lstStyle/>
                    <a:p>
                      <a:pPr algn="ctr">
                        <a:defRPr sz="1300" b="1">
                          <a:solidFill>
                            <a:srgbClr val="00D4FF"/>
                          </a:solidFill>
                          <a:latin typeface="Arial"/>
                        </a:defRPr>
                      </a:pPr>
                      <a:r>
                        <a:t>MEDIUM (P2)</a:t>
                      </a:r>
                    </a:p>
                  </a:txBody>
                  <a:tcPr>
                    <a:solidFill>
                      <a:srgbClr val="1C2241"/>
                    </a:solidFill>
                  </a:tcPr>
                </a:tc>
              </a:tr>
              <a:tr h="792480">
                <a:tc>
                  <a:txBody>
                    <a:bodyPr/>
                    <a:lstStyle/>
                    <a:p>
                      <a:pPr algn="ctr">
                        <a:defRPr sz="1300">
                          <a:solidFill>
                            <a:srgbClr val="F0F4F8"/>
                          </a:solidFill>
                          <a:latin typeface="Arial"/>
                        </a:defRPr>
                      </a:pPr>
                      <a:r>
                        <a:t>9</a:t>
                      </a:r>
                    </a:p>
                  </a:txBody>
                  <a:tcPr>
                    <a:solidFill>
                      <a:srgbClr val="12162D"/>
                    </a:solidFill>
                  </a:tcPr>
                </a:tc>
                <a:tc>
                  <a:txBody>
                    <a:bodyPr/>
                    <a:lstStyle/>
                    <a:p>
                      <a:pPr>
                        <a:defRPr sz="1300">
                          <a:solidFill>
                            <a:srgbClr val="F0F4F8"/>
                          </a:solidFill>
                          <a:latin typeface="Arial"/>
                        </a:defRPr>
                      </a:pPr>
                      <a:r>
                        <a:t>Dead Code &amp; Typo Variable</a:t>
                      </a:r>
                      <a:br/>
                      <a:r>
                        <a:t>(`teretyuiod_active`)</a:t>
                      </a:r>
                    </a:p>
                  </a:txBody>
                  <a:tcPr>
                    <a:solidFill>
                      <a:srgbClr val="12162D"/>
                    </a:solidFill>
                  </a:tcPr>
                </a:tc>
                <a:tc>
                  <a:txBody>
                    <a:bodyPr/>
                    <a:lstStyle/>
                    <a:p>
                      <a:pPr>
                        <a:defRPr sz="1300">
                          <a:solidFill>
                            <a:srgbClr val="F0F4F8"/>
                          </a:solidFill>
                          <a:latin typeface="Arial"/>
                        </a:defRPr>
                      </a:pPr>
                      <a:r>
                        <a:t>Deklarasi variabel teretyuiod_active = False di baris 19 tidak pernah digunakan di seluruh sistem (mengurangi clean code).</a:t>
                      </a:r>
                    </a:p>
                  </a:txBody>
                  <a:tcPr>
                    <a:solidFill>
                      <a:srgbClr val="12162D"/>
                    </a:solidFill>
                  </a:tcPr>
                </a:tc>
                <a:tc>
                  <a:txBody>
                    <a:bodyPr/>
                    <a:lstStyle/>
                    <a:p>
                      <a:pPr algn="ctr">
                        <a:defRPr sz="1300" b="1">
                          <a:solidFill>
                            <a:srgbClr val="00FF88"/>
                          </a:solidFill>
                          <a:latin typeface="Arial"/>
                        </a:defRPr>
                      </a:pPr>
                      <a:r>
                        <a:t>MINOR (P3)</a:t>
                      </a:r>
                    </a:p>
                  </a:txBody>
                  <a:tcPr>
                    <a:solidFill>
                      <a:srgbClr val="12162D"/>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Roadmap Rekomendasi Perbaikan Prioritas</a:t>
            </a:r>
          </a:p>
        </p:txBody>
      </p:sp>
      <p:sp>
        <p:nvSpPr>
          <p:cNvPr id="3" name="Rounded Rectangle 2"/>
          <p:cNvSpPr/>
          <p:nvPr/>
        </p:nvSpPr>
        <p:spPr>
          <a:xfrm>
            <a:off x="54864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FF6B6B"/>
                </a:solidFill>
                <a:latin typeface="Arial"/>
              </a:defRPr>
            </a:pPr>
            <a:r>
              <a:t>🚨 Remediasi Langsung (Immediate Fix P0-P1)</a:t>
            </a:r>
          </a:p>
          <a:p>
            <a:br/>
            <a:pPr>
              <a:defRPr sz="1350">
                <a:solidFill>
                  <a:srgbClr val="F0F4F8"/>
                </a:solidFill>
              </a:defRPr>
            </a:pPr>
            <a:r>
              <a:t>1. Inisialisasi Eksplisit:</a:t>
            </a:r>
            <a:br/>
            <a:r>
              <a:t>Tambahkan `is_paused = False` dan `keyboard_active = False` di global scope tepat sebelum main loop (`run_system.py`).</a:t>
            </a:r>
            <a:br/>
            <a:br/>
            <a:r>
              <a:t>2. Confidence Threshold Check:</a:t>
            </a:r>
            <a:br/>
            <a:r>
              <a:t>Gunakan `model.predict_proba(features)` dan pastikan probabilitas maksimum &gt;= 0.75 sebelum mengeksekusi aksi OS.</a:t>
            </a:r>
            <a:br/>
            <a:br/>
            <a:r>
              <a:t>3. Non-Blocking Timestamp Timer:</a:t>
            </a:r>
            <a:br/>
            <a:r>
              <a:t>Ganti pemanggilan `time.sleep()` dengan evaluasi `time.time() - action_start &gt;= duration` agar frame kamera tetap mengalir lancar.</a:t>
            </a:r>
            <a:br/>
            <a:br/>
            <a:r>
              <a:t>4. Aktifkan PyAutoGUI Failsafe:</a:t>
            </a:r>
            <a:br/>
            <a:r>
              <a:t>Set `pyautogui.FAILSAFE = True` sebagai pengaman darurat.</a:t>
            </a:r>
          </a:p>
        </p:txBody>
      </p:sp>
      <p:sp>
        <p:nvSpPr>
          <p:cNvPr id="4" name="Rounded Rectangle 3"/>
          <p:cNvSpPr/>
          <p:nvPr/>
        </p:nvSpPr>
        <p:spPr>
          <a:xfrm>
            <a:off x="6217920" y="1463040"/>
            <a:ext cx="5394960" cy="475488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800" b="1">
                <a:solidFill>
                  <a:srgbClr val="00FF88"/>
                </a:solidFill>
                <a:latin typeface="Arial"/>
              </a:defRPr>
            </a:pPr>
            <a:r>
              <a:t>🌟 Peningkatan Metodologi Ilmiah (P1-P2)</a:t>
            </a:r>
          </a:p>
          <a:p>
            <a:br/>
            <a:pPr>
              <a:defRPr sz="1350">
                <a:solidFill>
                  <a:srgbClr val="F0F4F8"/>
                </a:solidFill>
              </a:defRPr>
            </a:pPr>
            <a:r>
              <a:t>1. Dataset Balancing:</a:t>
            </a:r>
            <a:br/>
            <a:r>
              <a:t>Terapkan parameter `SVC(class_weight='balanced')` atau lakukan augmentasi data SMOTE pada kelas minoritas (Swipe Tab) agar model tidak bias.</a:t>
            </a:r>
            <a:br/>
            <a:br/>
            <a:r>
              <a:t>2. Stratified 10-Fold Cross-Validation:</a:t>
            </a:r>
            <a:br/>
            <a:r>
              <a:t>Implementasikan `cross_val_score` pada `train_model.py` dan cetak laporan lengkap (Confusion Matrix &amp; Classification Report) sebagai bukti validitas di jurnal internasional.</a:t>
            </a:r>
            <a:br/>
            <a:br/>
            <a:r>
              <a:t>3. Responsive Screen Mapping:</a:t>
            </a:r>
            <a:br/>
            <a:r>
              <a:t>Hapus hardcoded koordinat dan gunakan persentase relatif berbanding resolusi monitor aktual pengguna.</a:t>
            </a:r>
            <a:br/>
            <a:br/>
            <a:r>
              <a:t>4. Migrasi ke FSM Eksplisit:</a:t>
            </a:r>
            <a:br/>
            <a:r>
              <a:t>Ganti pengelolaan state implisit dengan kelas Finite State Machine (FSM) formal.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lIns="0" tIns="0" rIns="0" bIns="0">
            <a:spAutoFit/>
          </a:bodyPr>
          <a:lstStyle/>
          <a:p>
            <a:pPr>
              <a:defRPr sz="1100" b="1">
                <a:solidFill>
                  <a:srgbClr val="00D4FF"/>
                </a:solidFill>
                <a:latin typeface="Arial"/>
              </a:defRPr>
            </a:pPr>
            <a:r>
              <a:t>DACTYL-AI V2.5 TECHNICAL REVIEW</a:t>
            </a:r>
          </a:p>
          <a:p>
            <a:pPr>
              <a:defRPr sz="2400" b="1">
                <a:solidFill>
                  <a:srgbClr val="FFFFFF"/>
                </a:solidFill>
                <a:latin typeface="Arial"/>
              </a:defRPr>
            </a:pPr>
            <a:r>
              <a:t>Kesimpulan &amp; Penilaian Kesiapan Jurnal</a:t>
            </a:r>
          </a:p>
        </p:txBody>
      </p:sp>
      <p:sp>
        <p:nvSpPr>
          <p:cNvPr id="3" name="Rounded Rectangle 2"/>
          <p:cNvSpPr/>
          <p:nvPr/>
        </p:nvSpPr>
        <p:spPr>
          <a:xfrm>
            <a:off x="548640" y="1463040"/>
            <a:ext cx="11064240" cy="3931920"/>
          </a:xfrm>
          <a:prstGeom prst="roundRect">
            <a:avLst/>
          </a:prstGeom>
          <a:solidFill>
            <a:srgbClr val="161C38"/>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320040" lIns="320040" rIns="320040"/>
          <a:lstStyle/>
          <a:p>
            <a:pPr algn="ctr">
              <a:defRPr sz="2000" b="1">
                <a:solidFill>
                  <a:srgbClr val="00FF88"/>
                </a:solidFill>
                <a:latin typeface="Arial"/>
              </a:defRPr>
            </a:pPr>
            <a:r>
              <a:t>🏆 Sintesis Evaluatif Software Architect &amp; Reviewer</a:t>
            </a:r>
          </a:p>
          <a:p>
            <a:br/>
            <a:pPr>
              <a:defRPr sz="1500">
                <a:solidFill>
                  <a:srgbClr val="F0F4F8"/>
                </a:solidFill>
              </a:defRPr>
            </a:pPr>
            <a:r>
              <a:t>Sistem Dactyl-AI V2.5 merupakan pencapaian rekayasa perangkat lunak dan interaksi manusia-komputer yang sangat inovatif. Konsep Bimanual Task Division berhasil memecahkan masalah oklusi tangan tunggal, sementara pemilihan model AI ringan (SVM atas Vektor 126D) dipadukan dengan filter EMA terbukti mampu menghasilkan latensi rendah yang stabil di 24-30 FPS pada perangkat keras konsumen standar.</a:t>
            </a:r>
            <a:br/>
            <a:br/>
            <a:r>
              <a:t>Secara ilmiah, implementasi aktual ini sudah sangat layak untuk diangkat menjadi artikel jurnal internasional bereputasi (IEEE / ACM / Elsevier). Setelah perbaikan bug inisialisasi variabel (P0) dan penerapan cross-validation serta dataset balancing (P1), project ini memenuhi standar ketat pengujian sistem dan memiliki kontribusi teknis nyata bagi masa depan antarmuka nirsentuh.</a:t>
            </a:r>
          </a:p>
        </p:txBody>
      </p:sp>
      <p:sp>
        <p:nvSpPr>
          <p:cNvPr id="4" name="Rounded Rectangle 3"/>
          <p:cNvSpPr/>
          <p:nvPr/>
        </p:nvSpPr>
        <p:spPr>
          <a:xfrm>
            <a:off x="548640" y="5577840"/>
            <a:ext cx="11064240" cy="731520"/>
          </a:xfrm>
          <a:prstGeom prst="roundRect">
            <a:avLst/>
          </a:prstGeom>
          <a:solidFill>
            <a:srgbClr val="1E264B"/>
          </a:solidFill>
          <a:ln w="12700">
            <a:solidFill>
              <a:srgbClr val="323C5A"/>
            </a:solidFill>
          </a:ln>
        </p:spPr>
        <p:style>
          <a:lnRef idx="1">
            <a:schemeClr val="accent1"/>
          </a:lnRef>
          <a:fillRef idx="3">
            <a:schemeClr val="accent1"/>
          </a:fillRef>
          <a:effectRef idx="2">
            <a:schemeClr val="accent1"/>
          </a:effectRef>
          <a:fontRef idx="minor">
            <a:schemeClr val="lt1"/>
          </a:fontRef>
        </p:style>
        <p:txBody>
          <a:bodyPr rtlCol="0" anchor="ctr" wrap="square" tIns="182880" lIns="274320"/>
          <a:lstStyle/>
          <a:p>
            <a:pPr algn="ctr">
              <a:defRPr sz="1400" b="1">
                <a:solidFill>
                  <a:srgbClr val="FFD700"/>
                </a:solidFill>
                <a:latin typeface="Arial"/>
              </a:defRPr>
            </a:pPr>
            <a:r>
              <a:t>✨ Architectural Rigor: VERIFIED   |   📚 Academic Quality: READY FOR SUBMISSION   |   🔬 Methodological Audit: COMPLETED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914400" y="2011680"/>
            <a:ext cx="10362895" cy="3200400"/>
          </a:xfrm>
          <a:prstGeom prst="rect">
            <a:avLst/>
          </a:prstGeom>
          <a:noFill/>
        </p:spPr>
        <p:txBody>
          <a:bodyPr wrap="square">
            <a:spAutoFit/>
          </a:bodyPr>
          <a:lstStyle/>
          <a:p>
            <a:pPr algn="ctr">
              <a:defRPr sz="4800">
                <a:latin typeface="Arial"/>
              </a:defRPr>
            </a:pPr>
            <a:r>
              <a:t>🎓</a:t>
            </a:r>
          </a:p>
          <a:p>
            <a:pPr algn="ctr">
              <a:defRPr sz="4400" b="1">
                <a:solidFill>
                  <a:srgbClr val="00D4FF"/>
                </a:solidFill>
                <a:latin typeface="Arial"/>
              </a:defRPr>
            </a:pPr>
            <a:r>
              <a:t>TERIMA KASIH</a:t>
            </a:r>
          </a:p>
          <a:p>
            <a:pPr algn="ctr">
              <a:defRPr sz="2200">
                <a:solidFill>
                  <a:srgbClr val="FFFFFF"/>
                </a:solidFill>
                <a:latin typeface="Arial"/>
              </a:defRPr>
            </a:pPr>
            <a:r>
              <a:t>Sesi Diskusi &amp; Tanya Jawab (Q&amp;A)</a:t>
            </a:r>
            <a:br/>
          </a:p>
          <a:p>
            <a:pPr algn="ctr">
              <a:defRPr sz="1400">
                <a:solidFill>
                  <a:srgbClr val="A0AEC0"/>
                </a:solidFill>
                <a:latin typeface="Arial"/>
              </a:defRPr>
            </a:pPr>
            <a:r>
              <a:t>Dokumen Word (.docx) Jurnal Ilmiah &amp; Presentasi (.pptx) telah disiapkan lengkap dalam folder Dokumentasi.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